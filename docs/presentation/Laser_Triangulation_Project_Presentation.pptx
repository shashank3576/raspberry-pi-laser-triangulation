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27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40"/>
  </p:normalViewPr>
  <p:slideViewPr>
    <p:cSldViewPr snapToGrid="0" snapToObjects="1">
      <p:cViewPr>
        <p:scale>
          <a:sx n="75" d="100"/>
          <a:sy n="75" d="100"/>
        </p:scale>
        <p:origin x="232" y="-6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09:40.6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279 395 9028,'0'0'0,"1"2"0,-1 0 0,1 1 0,-1-1 0,2 2 0,0 0 0,0 0 0,1 1 0,-1 0 0,2 0 0,-1 1 0,2-1 0,0 1 0,1-1 0,-1 1 0,2 0 0,0-1 0,0 1 0,1-1 0,1 0 0,-1 0 0,2-1 0,-1-1 0,1 0 0,-1 0 0,2-1 0,-2-1 0,2 0 0,-1-1 0,0 0 0,0-2 0,0 0 0,-1-1 0,0-1 0,0 0 0,-1-2 0,0 1 0,-1-2 0,0 0 0,-1-1 0,-1 0 0,-1-2 0,0 0 0,-1 0 0,-1-1 0,0-1 0,-2 1 0,0-1 0,-2-1 0,0 0 0,-1 0 0,-1 0 0,0 0 0,-1 0 0,-1-1 0,-1 0 0,-1 1 0,1 0 0,-2 0 0,0 0 0,0 0 0,-1 1 0,-1 0 0,1-1 0,-1 2 0,1 0 0,-1 0 0,0 1 0,1 0 0,-1 1 0,1 0 0,-1 0 0,1 1 0,1 1 0,-1 0 0,1 0 0,1 1 0,0 0 0,0 1 0,1 1 0,1-1 0,0 1 0,1 0 0,0 0 0,1 1 0,0 1 0,1-1 0,0 1 0,1-1 0,-1 2 0,2-1 0,0 1 0,0 0 0,0 0 0,1 0 0,0 0 0,0 2 0,-1 0 0,1 1 0,0-2 0,-2 2 0,1 0 0,0-1 0,-2 2 0,1-1 0,-1 1 0,0 1 0,-1 0 0,-1 0 0,1 0 0,-2 1 0,1 0 0,-2 1 0,1 0 0,-1 1 0,-1 0 0,0 1 0,0 0 0,-1 1 0,0 0 0,1 1 0,-2 0 0,1 1 0,-1 0 0,1 0 0,0 1 0,0 1 0,0-1 0,0 1 0,0 1 0,1 0 0,1 0 0,0-1 0,0 2 0,1-1 0,0 0 0,1 1 0,1-2 0,1 2 0,0-1 0,1-1 0,1 0 0,0 0 0,2 0 0,0-1 0,1 0 0,1-1 0,1-1 0,0 0 0,1 0 0,0-2 0,2 0 0,0-1 0,0 0 0,2-2 0,-1 0 0,0-1 0,2-1 0,-1-1 0,1 0 0,0-2 0,0 0 0,0 0 0,0-1 0,0-2 0,0 1 0,0-1 0,-1-1 0,1 0 0,-2-1 0,1-1 0,-1 0 0,-1 1 0,0-2 0,0 1 0,-1-1 0,0 1 0,-1 0 0,0-1 0,-1 1 0,0 0 0,-1 0 0,0 1 0,-1-1 0,0 1 0,-1 0 0,0 1 0,0 1 0,0 0 0,-1 0 0,0 1 0,0 0 0,0 2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09:43.2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395 251 4915,'5'0'180,"7"0"0,2 5 1,3 2-1,-2 4 0,-2 6 0,-9-5 75,-11-9 0,-9-7-75,-6-6-205,-11-12-25,-9-8 11,-9-9-12,-5-3 12,-3 1-1,-3 2 1,-5-3-25,8 6 64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09:27.2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09:29.1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09:33.6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09:34.6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09:35.1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09:35.5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25:34.1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25:35.4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4915,'5'0'180,"7"0"0,7 0 1,4 0-1,5 5 75,2 7 0,1 2-75,-5 3 0,-6 4 0,-7-2-180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25:35.6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25:35.9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25:39.1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1854 1 4915,'-406'27'4156,"7"39"-1782,-154 87 463,379-98-1952,93-31-455,12-4 100,-72 30 0,110-36-500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25:41.8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25:42.4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25:43.1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4915,'5'0'180,"7"0"0,7 0 1,10 0 179,5 0-180,2 0 1,1 0-1,-2 0 0,-1 0 0,-2 0 0,0 0 1,-1 0-1,-11 0 0,-9 0-180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25:45.2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1118 1 4915,'0'1'23,"0"1"-1,0-1 1,-1 0 0,1 0 0,-1 0-1,1 0 1,-1 0 0,1 0-1,-1 0 1,0 0 0,1 0-1,-1-1 1,0 1 0,0 0-1,0 0 1,0-1 0,0 1-1,1 0 1,-1-1 0,0 1 0,-1-1-1,1 1 1,0-1 0,0 0-1,0 1 1,0-1 0,-2 0-1,-36 6 351,35-5-300,-93 2 843,-1-4-1,-126-16 0,-254 4 1690,352 13-1996,98 0-579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25:59.6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416 0 4915,'-4'0'180,"-8"0"181,-11 4 42,-4 5-148,-5 1 105,-5 2 43,0 3-148,-1-1 105,2 1-105,0-2 106,5 1-181,6-3 0,2 1 75,1-2-75,5 2 0,5 2 1,9-1-1,4-3-180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18:09.7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09:18:11.3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6.xml"/><Relationship Id="rId18" Type="http://schemas.openxmlformats.org/officeDocument/2006/relationships/image" Target="../media/image13.png"/><Relationship Id="rId26" Type="http://schemas.openxmlformats.org/officeDocument/2006/relationships/image" Target="../media/image15.png"/><Relationship Id="rId3" Type="http://schemas.openxmlformats.org/officeDocument/2006/relationships/image" Target="../media/image8.png"/><Relationship Id="rId21" Type="http://schemas.openxmlformats.org/officeDocument/2006/relationships/customXml" Target="../ink/ink13.xml"/><Relationship Id="rId7" Type="http://schemas.openxmlformats.org/officeDocument/2006/relationships/customXml" Target="../ink/ink2.xml"/><Relationship Id="rId12" Type="http://schemas.openxmlformats.org/officeDocument/2006/relationships/customXml" Target="../ink/ink5.xml"/><Relationship Id="rId17" Type="http://schemas.openxmlformats.org/officeDocument/2006/relationships/customXml" Target="../ink/ink10.xml"/><Relationship Id="rId25" Type="http://schemas.openxmlformats.org/officeDocument/2006/relationships/customXml" Target="../ink/ink16.xml"/><Relationship Id="rId2" Type="http://schemas.openxmlformats.org/officeDocument/2006/relationships/image" Target="../media/image7.png"/><Relationship Id="rId16" Type="http://schemas.openxmlformats.org/officeDocument/2006/relationships/customXml" Target="../ink/ink9.xml"/><Relationship Id="rId20" Type="http://schemas.openxmlformats.org/officeDocument/2006/relationships/customXml" Target="../ink/ink12.xml"/><Relationship Id="rId29" Type="http://schemas.openxmlformats.org/officeDocument/2006/relationships/customXml" Target="../ink/ink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customXml" Target="../ink/ink4.xml"/><Relationship Id="rId24" Type="http://schemas.openxmlformats.org/officeDocument/2006/relationships/customXml" Target="../ink/ink15.xml"/><Relationship Id="rId5" Type="http://schemas.openxmlformats.org/officeDocument/2006/relationships/customXml" Target="../ink/ink1.xml"/><Relationship Id="rId15" Type="http://schemas.openxmlformats.org/officeDocument/2006/relationships/customXml" Target="../ink/ink8.xml"/><Relationship Id="rId23" Type="http://schemas.openxmlformats.org/officeDocument/2006/relationships/customXml" Target="../ink/ink14.xml"/><Relationship Id="rId28" Type="http://schemas.openxmlformats.org/officeDocument/2006/relationships/image" Target="../media/image16.png"/><Relationship Id="rId10" Type="http://schemas.openxmlformats.org/officeDocument/2006/relationships/image" Target="../media/image12.png"/><Relationship Id="rId19" Type="http://schemas.openxmlformats.org/officeDocument/2006/relationships/customXml" Target="../ink/ink11.xml"/><Relationship Id="rId4" Type="http://schemas.openxmlformats.org/officeDocument/2006/relationships/image" Target="../media/image9.png"/><Relationship Id="rId9" Type="http://schemas.openxmlformats.org/officeDocument/2006/relationships/customXml" Target="../ink/ink3.xml"/><Relationship Id="rId14" Type="http://schemas.openxmlformats.org/officeDocument/2006/relationships/customXml" Target="../ink/ink7.xml"/><Relationship Id="rId22" Type="http://schemas.openxmlformats.org/officeDocument/2006/relationships/image" Target="../media/image14.png"/><Relationship Id="rId27" Type="http://schemas.openxmlformats.org/officeDocument/2006/relationships/customXml" Target="../ink/ink17.xml"/><Relationship Id="rId30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7.xml"/><Relationship Id="rId4" Type="http://schemas.openxmlformats.org/officeDocument/2006/relationships/customXml" Target="../ink/ink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D">
            <a:alpha val="79807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jpeg"/>
          <p:cNvPicPr>
            <a:picLocks noChangeAspect="1"/>
          </p:cNvPicPr>
          <p:nvPr/>
        </p:nvPicPr>
        <p:blipFill rotWithShape="1">
          <a:blip r:embed="rId2"/>
          <a:srcRect l="5959" t="19796" r="24961" b="15591"/>
          <a:stretch>
            <a:fillRect/>
          </a:stretch>
        </p:blipFill>
        <p:spPr>
          <a:xfrm>
            <a:off x="0" y="-45720"/>
            <a:ext cx="12201799" cy="69037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4777740" cy="3063240"/>
          </a:xfrm>
          <a:prstGeom prst="round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" y="609005"/>
            <a:ext cx="6484112" cy="56630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576" tIns="36576" rIns="36576" bIns="36576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rPr sz="3200" dirty="0"/>
              <a:t>OBJECT HEIGHT</a:t>
            </a:r>
            <a:r>
              <a:rPr lang="en-US" sz="3200" dirty="0"/>
              <a:t> </a:t>
            </a:r>
            <a:r>
              <a:rPr sz="3200" dirty="0"/>
              <a:t>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3749039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rPr lang="en-US" dirty="0"/>
              <a:t>T</a:t>
            </a:r>
            <a:r>
              <a:rPr dirty="0"/>
              <a:t>hrough laser triangulation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920240"/>
            <a:ext cx="1234440" cy="54864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176272"/>
            <a:ext cx="5529072" cy="5109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20" b="0">
                <a:solidFill>
                  <a:srgbClr val="E8F0F6"/>
                </a:solidFill>
                <a:latin typeface="Aptos"/>
              </a:defRPr>
            </a:pPr>
            <a:r>
              <a:rPr dirty="0"/>
              <a:t>Raspberry Pi + camera based</a:t>
            </a:r>
            <a:br>
              <a:rPr dirty="0"/>
            </a:br>
            <a:r>
              <a:rPr dirty="0"/>
              <a:t>non-contact height measurement system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FE29D6-20BE-C2A9-FE69-40184E12B320}"/>
              </a:ext>
            </a:extLst>
          </p:cNvPr>
          <p:cNvGrpSpPr/>
          <p:nvPr/>
        </p:nvGrpSpPr>
        <p:grpSpPr>
          <a:xfrm>
            <a:off x="6737532" y="5669280"/>
            <a:ext cx="5166360" cy="1069848"/>
            <a:chOff x="365760" y="5285232"/>
            <a:chExt cx="5166360" cy="1069848"/>
          </a:xfrm>
        </p:grpSpPr>
        <p:sp>
          <p:nvSpPr>
            <p:cNvPr id="4" name="Rounded Rectangle 3"/>
            <p:cNvSpPr/>
            <p:nvPr/>
          </p:nvSpPr>
          <p:spPr>
            <a:xfrm>
              <a:off x="365760" y="5285232"/>
              <a:ext cx="5166360" cy="1051560"/>
            </a:xfrm>
            <a:prstGeom prst="roundRect">
              <a:avLst/>
            </a:prstGeom>
            <a:solidFill>
              <a:srgbClr val="0D192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6928" y="5468112"/>
              <a:ext cx="4617720" cy="256032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l">
                <a:defRPr sz="1250" b="1">
                  <a:solidFill>
                    <a:srgbClr val="FFFFFF"/>
                  </a:solidFill>
                  <a:latin typeface="Aptos"/>
                </a:defRPr>
              </a:pPr>
              <a:r>
                <a:rPr dirty="0"/>
                <a:t>Department of Instrumentation &amp; Applied Physics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6928" y="5788152"/>
              <a:ext cx="2194560" cy="219456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l">
                <a:defRPr sz="1050" b="0">
                  <a:solidFill>
                    <a:srgbClr val="D8E1EB"/>
                  </a:solidFill>
                  <a:latin typeface="Aptos"/>
                </a:defRPr>
              </a:pPr>
              <a:r>
                <a:t>23 September 2026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66928" y="6099048"/>
              <a:ext cx="4754880" cy="256032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l">
                <a:defRPr sz="880" b="0">
                  <a:solidFill>
                    <a:srgbClr val="FFFFFF"/>
                  </a:solidFill>
                  <a:latin typeface="Aptos"/>
                </a:defRPr>
              </a:pPr>
              <a:r>
                <a:t>Mayank Bisht  •  Suseenthar T.G.  •  Swarnabha  •  Shashank Shanbhang</a:t>
              </a:r>
            </a:p>
          </p:txBody>
        </p:sp>
      </p:grpSp>
      <p:pic>
        <p:nvPicPr>
          <p:cNvPr id="12" name="Picture 11" descr="iis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872" y="118872"/>
            <a:ext cx="914400" cy="8961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01 / PHYSICS &amp;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972800" cy="4585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rPr lang="en-US" dirty="0"/>
              <a:t>Laser Triangulation</a:t>
            </a:r>
            <a:endParaRPr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7348CA6-CDEF-E1DB-89EF-B2385A7AE818}"/>
              </a:ext>
            </a:extLst>
          </p:cNvPr>
          <p:cNvSpPr txBox="1">
            <a:spLocks/>
          </p:cNvSpPr>
          <p:nvPr/>
        </p:nvSpPr>
        <p:spPr>
          <a:xfrm>
            <a:off x="411480" y="1449351"/>
            <a:ext cx="11210139" cy="412848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200" dirty="0"/>
              <a:t>An </a:t>
            </a:r>
            <a:r>
              <a:rPr lang="en-IN" sz="2200" dirty="0">
                <a:solidFill>
                  <a:srgbClr val="C00000"/>
                </a:solidFill>
              </a:rPr>
              <a:t>active 3D non-contact optical technique </a:t>
            </a:r>
            <a:r>
              <a:rPr lang="en-IN" sz="2200" dirty="0"/>
              <a:t>used to capture surface geometry, profile measurements, and depth data</a:t>
            </a:r>
          </a:p>
          <a:p>
            <a:endParaRPr lang="en-IN" sz="2200" dirty="0"/>
          </a:p>
          <a:p>
            <a:r>
              <a:rPr lang="en-IN" sz="2200" dirty="0"/>
              <a:t>Projects a </a:t>
            </a:r>
            <a:r>
              <a:rPr lang="en-IN" sz="2200" dirty="0">
                <a:solidFill>
                  <a:srgbClr val="00B050"/>
                </a:solidFill>
              </a:rPr>
              <a:t>structured light source</a:t>
            </a:r>
            <a:r>
              <a:rPr lang="en-IN" sz="2200" dirty="0"/>
              <a:t> (laser spot or line) onto an object and uses a displaced camera to capture the reflection angle</a:t>
            </a:r>
          </a:p>
          <a:p>
            <a:endParaRPr lang="en-IN" sz="2200" dirty="0"/>
          </a:p>
          <a:p>
            <a:r>
              <a:rPr lang="en-IN" sz="2200" dirty="0"/>
              <a:t>Critical Requirement - </a:t>
            </a:r>
            <a:r>
              <a:rPr lang="en-US" sz="2200" b="1" dirty="0">
                <a:solidFill>
                  <a:srgbClr val="002060"/>
                </a:solidFill>
              </a:rPr>
              <a:t>Diffuse Reflection</a:t>
            </a:r>
            <a:r>
              <a:rPr lang="en-US" sz="2200" dirty="0"/>
              <a:t>: System relies on the surface scattering light in all directions so the camera sensor can "see" the laser spot</a:t>
            </a:r>
          </a:p>
          <a:p>
            <a:endParaRPr lang="en-IN" sz="2200" dirty="0"/>
          </a:p>
          <a:p>
            <a:r>
              <a:rPr lang="en-IN" sz="2200" dirty="0"/>
              <a:t>Formed by three fixed points: </a:t>
            </a:r>
            <a:r>
              <a:rPr lang="en-IN" sz="2200" b="1" dirty="0"/>
              <a:t>Laser</a:t>
            </a:r>
            <a:r>
              <a:rPr lang="en-IN" sz="2200" dirty="0"/>
              <a:t>, </a:t>
            </a:r>
            <a:r>
              <a:rPr lang="en-IN" sz="2200" b="1" dirty="0"/>
              <a:t>Camera Lens </a:t>
            </a:r>
            <a:r>
              <a:rPr lang="en-IN" sz="2200" dirty="0"/>
              <a:t>and </a:t>
            </a:r>
            <a:r>
              <a:rPr lang="en-IN" sz="2200" b="1" dirty="0"/>
              <a:t>Object</a:t>
            </a:r>
          </a:p>
          <a:p>
            <a:endParaRPr lang="en-IN" sz="2200" b="1" dirty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01 / PHYSICS &amp;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972800" cy="4585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rPr dirty="0"/>
              <a:t>Triangulation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32688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Geometric relation used to connect spot displacement with object height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6851" y="864030"/>
            <a:ext cx="4774861" cy="3995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8C13E8D-1C25-4B71-AD86-C9B06084B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50" y="1536192"/>
            <a:ext cx="5725142" cy="350264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4AF3F37-3A47-D996-7690-A06B0AF86E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7" t="14770" r="-1387" b="24737"/>
          <a:stretch>
            <a:fillRect/>
          </a:stretch>
        </p:blipFill>
        <p:spPr>
          <a:xfrm>
            <a:off x="7762147" y="3706617"/>
            <a:ext cx="2597474" cy="734961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C0288C2-C952-621E-F511-FB1725749A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523" b="25182"/>
          <a:stretch>
            <a:fillRect/>
          </a:stretch>
        </p:blipFill>
        <p:spPr>
          <a:xfrm>
            <a:off x="7555458" y="2404794"/>
            <a:ext cx="3010853" cy="91440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1CC6124-26AB-C5A3-AE3F-0BF9A243E50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10" t="1986" r="3246" b="17826"/>
          <a:stretch>
            <a:fillRect/>
          </a:stretch>
        </p:blipFill>
        <p:spPr>
          <a:xfrm>
            <a:off x="8144672" y="1325880"/>
            <a:ext cx="1662317" cy="83363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0" name="Rounded Rectangle 35">
            <a:extLst>
              <a:ext uri="{FF2B5EF4-FFF2-40B4-BE49-F238E27FC236}">
                <a16:creationId xmlns:a16="http://schemas.microsoft.com/office/drawing/2014/main" id="{A7BB4762-3385-5D6D-30A1-AA3E8CA6A8ED}"/>
              </a:ext>
            </a:extLst>
          </p:cNvPr>
          <p:cNvSpPr/>
          <p:nvPr/>
        </p:nvSpPr>
        <p:spPr>
          <a:xfrm>
            <a:off x="383050" y="5324246"/>
            <a:ext cx="10789920" cy="914400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50155D-3B9A-3B9B-23A6-AF9CCBAB2DDB}"/>
              </a:ext>
            </a:extLst>
          </p:cNvPr>
          <p:cNvSpPr txBox="1"/>
          <p:nvPr/>
        </p:nvSpPr>
        <p:spPr>
          <a:xfrm>
            <a:off x="611650" y="5552846"/>
            <a:ext cx="910542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1">
                <a:solidFill>
                  <a:srgbClr val="F2912D"/>
                </a:solidFill>
                <a:latin typeface="Aptos Display"/>
              </a:defRPr>
            </a:pPr>
            <a:r>
              <a:t>Principle: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584167-7477-EF8B-7404-1847B3F99E8B}"/>
              </a:ext>
            </a:extLst>
          </p:cNvPr>
          <p:cNvSpPr txBox="1"/>
          <p:nvPr/>
        </p:nvSpPr>
        <p:spPr>
          <a:xfrm>
            <a:off x="1526051" y="5488839"/>
            <a:ext cx="8540544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0D192D"/>
                </a:solidFill>
                <a:latin typeface="Aptos"/>
              </a:defRPr>
            </a:pPr>
            <a:r>
              <a:rPr dirty="0"/>
              <a:t>Laser triangulation converts the </a:t>
            </a:r>
            <a:r>
              <a:rPr dirty="0">
                <a:solidFill>
                  <a:schemeClr val="accent5"/>
                </a:solidFill>
              </a:rPr>
              <a:t>horizontal displacement </a:t>
            </a:r>
            <a:r>
              <a:rPr dirty="0"/>
              <a:t>of the laser spot in the camera image into </a:t>
            </a:r>
            <a:r>
              <a:rPr dirty="0">
                <a:solidFill>
                  <a:schemeClr val="accent5"/>
                </a:solidFill>
              </a:rPr>
              <a:t>object height </a:t>
            </a:r>
            <a:r>
              <a:rPr dirty="0"/>
              <a:t>using the fixed geometry and a calibration curve.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AA976-2F31-3C4F-A5B4-A8AB27C3D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Image of a graph lightbox">
            <a:extLst>
              <a:ext uri="{FF2B5EF4-FFF2-40B4-BE49-F238E27FC236}">
                <a16:creationId xmlns:a16="http://schemas.microsoft.com/office/drawing/2014/main" id="{9FEEF763-14B4-47B0-133C-9224772A12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45"/>
          <a:stretch>
            <a:fillRect/>
          </a:stretch>
        </p:blipFill>
        <p:spPr>
          <a:xfrm>
            <a:off x="7327989" y="3880257"/>
            <a:ext cx="4073918" cy="26511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7A6C55-AC5E-B37F-C062-13BDE89818D9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A7EEC9-FF6D-DE22-882E-998D9C59A7DC}"/>
              </a:ext>
            </a:extLst>
          </p:cNvPr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33877F-1ABD-3296-EA37-C510C775A076}"/>
              </a:ext>
            </a:extLst>
          </p:cNvPr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01 / PHYSICS &amp; PRINCIPLE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4C892-66D1-CC8C-2811-7BC7CFCF2984}"/>
              </a:ext>
            </a:extLst>
          </p:cNvPr>
          <p:cNvSpPr txBox="1"/>
          <p:nvPr/>
        </p:nvSpPr>
        <p:spPr>
          <a:xfrm>
            <a:off x="411480" y="429768"/>
            <a:ext cx="10972800" cy="4585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rPr lang="en-US" dirty="0"/>
              <a:t>Resolution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1D2BC5-431B-EB94-523B-7F7CD7AF15A3}"/>
              </a:ext>
            </a:extLst>
          </p:cNvPr>
          <p:cNvSpPr txBox="1"/>
          <p:nvPr/>
        </p:nvSpPr>
        <p:spPr>
          <a:xfrm>
            <a:off x="601132" y="1295400"/>
            <a:ext cx="106459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Lateral Resolution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Minimum physical distance between two distinct points on the X-Y plane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Varies linearly with distance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1B5C43-A14F-FD7D-CC84-256A327B7DC6}"/>
              </a:ext>
            </a:extLst>
          </p:cNvPr>
          <p:cNvSpPr txBox="1"/>
          <p:nvPr/>
        </p:nvSpPr>
        <p:spPr>
          <a:xfrm>
            <a:off x="601132" y="2991891"/>
            <a:ext cx="105342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Depth Resolution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</a:t>
            </a:r>
            <a:r>
              <a:rPr lang="en-IN" dirty="0" err="1"/>
              <a:t>inimum</a:t>
            </a:r>
            <a:r>
              <a:rPr lang="en-IN" dirty="0"/>
              <a:t> physical distance between two distinct points on the Z plane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Varies quadratically with distance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50508A-F464-A21A-25D9-60E82C0839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625" b="14821"/>
          <a:stretch>
            <a:fillRect/>
          </a:stretch>
        </p:blipFill>
        <p:spPr>
          <a:xfrm>
            <a:off x="7492695" y="938803"/>
            <a:ext cx="3977945" cy="5757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A62916-7F7A-452F-4915-789811A2E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302" y="2402930"/>
            <a:ext cx="4364338" cy="47937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51AA80B-B62D-A2F9-18C9-DE6D4BB65D10}"/>
                  </a:ext>
                </a:extLst>
              </p14:cNvPr>
              <p14:cNvContentPartPr/>
              <p14:nvPr/>
            </p14:nvContentPartPr>
            <p14:xfrm rot="-1022881">
              <a:off x="9183005" y="6284647"/>
              <a:ext cx="201058" cy="191026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51AA80B-B62D-A2F9-18C9-DE6D4BB65D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-1022881">
                <a:off x="9119949" y="6221572"/>
                <a:ext cx="326809" cy="3168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D6179AD-E1E5-D60E-6828-7F8E3594A1A5}"/>
                  </a:ext>
                </a:extLst>
              </p14:cNvPr>
              <p14:cNvContentPartPr/>
              <p14:nvPr/>
            </p14:nvContentPartPr>
            <p14:xfrm>
              <a:off x="9241234" y="6321480"/>
              <a:ext cx="171000" cy="1101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D6179AD-E1E5-D60E-6828-7F8E3594A1A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78594" y="6258840"/>
                <a:ext cx="296640" cy="23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85DC832D-7E3E-41E3-EA58-E937F2E6D653}"/>
              </a:ext>
            </a:extLst>
          </p:cNvPr>
          <p:cNvGrpSpPr/>
          <p:nvPr/>
        </p:nvGrpSpPr>
        <p:grpSpPr>
          <a:xfrm>
            <a:off x="8792314" y="6356760"/>
            <a:ext cx="693670" cy="202680"/>
            <a:chOff x="8792314" y="6356760"/>
            <a:chExt cx="693670" cy="20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26B3BBF-4CA1-3B21-A379-F81FB694A88E}"/>
                    </a:ext>
                  </a:extLst>
                </p14:cNvPr>
                <p14:cNvContentPartPr/>
                <p14:nvPr/>
              </p14:nvContentPartPr>
              <p14:xfrm>
                <a:off x="9328714" y="6411480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26B3BBF-4CA1-3B21-A379-F81FB694A88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266074" y="63488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126E7E7-5363-1ABB-9E51-3A92F82B19A0}"/>
                    </a:ext>
                  </a:extLst>
                </p14:cNvPr>
                <p14:cNvContentPartPr/>
                <p14:nvPr/>
              </p14:nvContentPartPr>
              <p14:xfrm>
                <a:off x="9328714" y="6411480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126E7E7-5363-1ABB-9E51-3A92F82B19A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266074" y="63488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01B5977-BA78-E146-CD15-22BE6B60669B}"/>
                    </a:ext>
                  </a:extLst>
                </p14:cNvPr>
                <p14:cNvContentPartPr/>
                <p14:nvPr/>
              </p14:nvContentPartPr>
              <p14:xfrm>
                <a:off x="9230794" y="6487800"/>
                <a:ext cx="360" cy="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01B5977-BA78-E146-CD15-22BE6B60669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168154" y="6424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D946989-BD56-1C48-8DA8-F3AC938F753C}"/>
                    </a:ext>
                  </a:extLst>
                </p14:cNvPr>
                <p14:cNvContentPartPr/>
                <p14:nvPr/>
              </p14:nvContentPartPr>
              <p14:xfrm>
                <a:off x="9230794" y="6487800"/>
                <a:ext cx="36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D946989-BD56-1C48-8DA8-F3AC938F753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168154" y="6424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B497A97-D166-C170-404B-E5CDEE6EE404}"/>
                    </a:ext>
                  </a:extLst>
                </p14:cNvPr>
                <p14:cNvContentPartPr/>
                <p14:nvPr/>
              </p14:nvContentPartPr>
              <p14:xfrm>
                <a:off x="9230794" y="6487800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B497A97-D166-C170-404B-E5CDEE6EE40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168154" y="6424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62C9CD7-8A94-9189-2485-F61FB0590338}"/>
                    </a:ext>
                  </a:extLst>
                </p14:cNvPr>
                <p14:cNvContentPartPr/>
                <p14:nvPr/>
              </p14:nvContentPartPr>
              <p14:xfrm>
                <a:off x="9230794" y="6487800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62C9CD7-8A94-9189-2485-F61FB05903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168154" y="6424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F0AD912-9E2C-4D1E-1C79-EA85E4566C24}"/>
                    </a:ext>
                  </a:extLst>
                </p14:cNvPr>
                <p14:cNvContentPartPr/>
                <p14:nvPr/>
              </p14:nvContentPartPr>
              <p14:xfrm>
                <a:off x="9437794" y="6477000"/>
                <a:ext cx="36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F0AD912-9E2C-4D1E-1C79-EA85E4566C2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74794" y="64140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8CA12A2-01FE-815B-1D1E-73732B3D3290}"/>
                    </a:ext>
                  </a:extLst>
                </p14:cNvPr>
                <p14:cNvContentPartPr/>
                <p14:nvPr/>
              </p14:nvContentPartPr>
              <p14:xfrm>
                <a:off x="9241954" y="6444240"/>
                <a:ext cx="74880" cy="32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8CA12A2-01FE-815B-1D1E-73732B3D329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78954" y="6381240"/>
                  <a:ext cx="2005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7541947-077B-1256-3543-2B6129B92787}"/>
                    </a:ext>
                  </a:extLst>
                </p14:cNvPr>
                <p14:cNvContentPartPr/>
                <p14:nvPr/>
              </p14:nvContentPartPr>
              <p14:xfrm>
                <a:off x="9317914" y="6487800"/>
                <a:ext cx="36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7541947-077B-1256-3543-2B6129B9278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255274" y="6424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EE8EE05-FD49-F380-AAD4-8C8288DB0A8E}"/>
                    </a:ext>
                  </a:extLst>
                </p14:cNvPr>
                <p14:cNvContentPartPr/>
                <p14:nvPr/>
              </p14:nvContentPartPr>
              <p14:xfrm>
                <a:off x="9317914" y="6487800"/>
                <a:ext cx="36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EE8EE05-FD49-F380-AAD4-8C8288DB0A8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255274" y="64248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3355875-8E56-6200-150E-E6E940009B83}"/>
                    </a:ext>
                  </a:extLst>
                </p14:cNvPr>
                <p14:cNvContentPartPr/>
                <p14:nvPr/>
              </p14:nvContentPartPr>
              <p14:xfrm>
                <a:off x="8792314" y="6411480"/>
                <a:ext cx="667440" cy="147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3355875-8E56-6200-150E-E6E940009B8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729314" y="6348840"/>
                  <a:ext cx="7930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3A26F8C-40AD-0EA1-9571-5524A5A568CE}"/>
                    </a:ext>
                  </a:extLst>
                </p14:cNvPr>
                <p14:cNvContentPartPr/>
                <p14:nvPr/>
              </p14:nvContentPartPr>
              <p14:xfrm>
                <a:off x="9481354" y="6400680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3A26F8C-40AD-0EA1-9571-5524A5A568C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18354" y="63376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558808-FD82-AF67-5941-D31C7E34EE6C}"/>
                    </a:ext>
                  </a:extLst>
                </p14:cNvPr>
                <p14:cNvContentPartPr/>
                <p14:nvPr/>
              </p14:nvContentPartPr>
              <p14:xfrm>
                <a:off x="8969794" y="6433440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558808-FD82-AF67-5941-D31C7E34EE6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906794" y="63704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0DF069-C9F1-4201-B5FB-BC1DBB83BB0C}"/>
                    </a:ext>
                  </a:extLst>
                </p14:cNvPr>
                <p14:cNvContentPartPr/>
                <p14:nvPr/>
              </p14:nvContentPartPr>
              <p14:xfrm>
                <a:off x="8969794" y="6433440"/>
                <a:ext cx="13248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0DF069-C9F1-4201-B5FB-BC1DBB83BB0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906794" y="6370440"/>
                  <a:ext cx="258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E64DECF-CEE4-2E10-01CE-DA138AD9FFAE}"/>
                    </a:ext>
                  </a:extLst>
                </p14:cNvPr>
                <p14:cNvContentPartPr/>
                <p14:nvPr/>
              </p14:nvContentPartPr>
              <p14:xfrm>
                <a:off x="8904634" y="6356760"/>
                <a:ext cx="402840" cy="11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E64DECF-CEE4-2E10-01CE-DA138AD9FFA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841994" y="6294120"/>
                  <a:ext cx="5284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DFA4CA7-E24B-420B-0E7C-69D8E371ADF8}"/>
                    </a:ext>
                  </a:extLst>
                </p14:cNvPr>
                <p14:cNvContentPartPr/>
                <p14:nvPr/>
              </p14:nvContentPartPr>
              <p14:xfrm>
                <a:off x="9336224" y="6456334"/>
                <a:ext cx="149760" cy="68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DFA4CA7-E24B-420B-0E7C-69D8E371ADF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273584" y="6393334"/>
                  <a:ext cx="275400" cy="193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32696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D794C-5370-6EB5-4B51-8A6016CC3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26664E-452E-805C-C66D-34C778E757EE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A5FA27-6B68-1C99-1CCA-3B4B9351BCD3}"/>
              </a:ext>
            </a:extLst>
          </p:cNvPr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EBA80-FA6D-8DD1-E0B3-82D35EBC94FC}"/>
              </a:ext>
            </a:extLst>
          </p:cNvPr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01 / PHYSICS &amp; PRINCIPLE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D11D35-B3CB-CCCF-433A-B5AF84D9B422}"/>
              </a:ext>
            </a:extLst>
          </p:cNvPr>
          <p:cNvSpPr txBox="1"/>
          <p:nvPr/>
        </p:nvSpPr>
        <p:spPr>
          <a:xfrm>
            <a:off x="411480" y="4297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t>Physics &amp; Principle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9806F-E616-D15C-3EB3-2F07D4DAA693}"/>
              </a:ext>
            </a:extLst>
          </p:cNvPr>
          <p:cNvSpPr txBox="1"/>
          <p:nvPr/>
        </p:nvSpPr>
        <p:spPr>
          <a:xfrm>
            <a:off x="438912" y="932688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Basic operating principle of the measurement system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0AA675-E095-BC6F-B48C-218274C97256}"/>
              </a:ext>
            </a:extLst>
          </p:cNvPr>
          <p:cNvSpPr/>
          <p:nvPr/>
        </p:nvSpPr>
        <p:spPr>
          <a:xfrm>
            <a:off x="502920" y="1828800"/>
            <a:ext cx="1874519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EFC7C3-0286-0316-B4CF-9B4C1C916DF7}"/>
              </a:ext>
            </a:extLst>
          </p:cNvPr>
          <p:cNvSpPr/>
          <p:nvPr/>
        </p:nvSpPr>
        <p:spPr>
          <a:xfrm>
            <a:off x="502920" y="1828800"/>
            <a:ext cx="1874519" cy="91440"/>
          </a:xfrm>
          <a:prstGeom prst="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62093C-172F-5BE0-D7C5-E22FE38D97B1}"/>
              </a:ext>
            </a:extLst>
          </p:cNvPr>
          <p:cNvSpPr txBox="1"/>
          <p:nvPr/>
        </p:nvSpPr>
        <p:spPr>
          <a:xfrm>
            <a:off x="667512" y="2011680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39E818-1A5E-080E-BB28-5AF7569764A0}"/>
              </a:ext>
            </a:extLst>
          </p:cNvPr>
          <p:cNvSpPr txBox="1"/>
          <p:nvPr/>
        </p:nvSpPr>
        <p:spPr>
          <a:xfrm>
            <a:off x="667512" y="2395728"/>
            <a:ext cx="1554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>
                <a:solidFill>
                  <a:srgbClr val="0D192D"/>
                </a:solidFill>
                <a:latin typeface="Aptos Display"/>
              </a:defRPr>
            </a:pPr>
            <a:r>
              <a:t>LASER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C7F78-E1B4-7D0E-AEEA-5B22A5C22AE4}"/>
              </a:ext>
            </a:extLst>
          </p:cNvPr>
          <p:cNvSpPr txBox="1"/>
          <p:nvPr/>
        </p:nvSpPr>
        <p:spPr>
          <a:xfrm>
            <a:off x="667512" y="2852928"/>
            <a:ext cx="1536192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232B36"/>
                </a:solidFill>
                <a:latin typeface="Aptos"/>
              </a:defRPr>
            </a:pPr>
            <a:r>
              <a:t>Projects a red spot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09D02AEC-E398-BB4D-BE69-F6739DCF998C}"/>
              </a:ext>
            </a:extLst>
          </p:cNvPr>
          <p:cNvCxnSpPr/>
          <p:nvPr/>
        </p:nvCxnSpPr>
        <p:spPr>
          <a:xfrm>
            <a:off x="2395728" y="2907792"/>
            <a:ext cx="283463" cy="0"/>
          </a:xfrm>
          <a:prstGeom prst="line">
            <a:avLst/>
          </a:prstGeom>
          <a:ln w="2159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48FC25B-2293-606B-683A-D8DBB581B92D}"/>
              </a:ext>
            </a:extLst>
          </p:cNvPr>
          <p:cNvSpPr/>
          <p:nvPr/>
        </p:nvSpPr>
        <p:spPr>
          <a:xfrm>
            <a:off x="2788920" y="1828800"/>
            <a:ext cx="1874519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6E12E0-08F5-9832-E2B4-7484C157532D}"/>
              </a:ext>
            </a:extLst>
          </p:cNvPr>
          <p:cNvSpPr/>
          <p:nvPr/>
        </p:nvSpPr>
        <p:spPr>
          <a:xfrm>
            <a:off x="2788920" y="1828800"/>
            <a:ext cx="1874519" cy="91440"/>
          </a:xfrm>
          <a:prstGeom prst="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629252-B9B0-F2F3-F5C3-2E0761850EBB}"/>
              </a:ext>
            </a:extLst>
          </p:cNvPr>
          <p:cNvSpPr txBox="1"/>
          <p:nvPr/>
        </p:nvSpPr>
        <p:spPr>
          <a:xfrm>
            <a:off x="2953512" y="2011680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D3946-FB7C-547C-0C6C-049A43485581}"/>
              </a:ext>
            </a:extLst>
          </p:cNvPr>
          <p:cNvSpPr txBox="1"/>
          <p:nvPr/>
        </p:nvSpPr>
        <p:spPr>
          <a:xfrm>
            <a:off x="2953512" y="2395728"/>
            <a:ext cx="1554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>
                <a:solidFill>
                  <a:srgbClr val="0D192D"/>
                </a:solidFill>
                <a:latin typeface="Aptos Display"/>
              </a:defRPr>
            </a:pPr>
            <a:r>
              <a:t>OBJECT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C54C79-9DB1-C2C1-BBED-20A347B6041B}"/>
              </a:ext>
            </a:extLst>
          </p:cNvPr>
          <p:cNvSpPr txBox="1"/>
          <p:nvPr/>
        </p:nvSpPr>
        <p:spPr>
          <a:xfrm>
            <a:off x="2953512" y="2852928"/>
            <a:ext cx="1536192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232B36"/>
                </a:solidFill>
                <a:latin typeface="Aptos"/>
              </a:defRPr>
            </a:pPr>
            <a:r>
              <a:t>Height changes the spot position</a:t>
            </a:r>
          </a:p>
        </p:txBody>
      </p: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9432A0C3-ADFC-4414-C370-C7821394DE9F}"/>
              </a:ext>
            </a:extLst>
          </p:cNvPr>
          <p:cNvCxnSpPr/>
          <p:nvPr/>
        </p:nvCxnSpPr>
        <p:spPr>
          <a:xfrm>
            <a:off x="4681727" y="2907792"/>
            <a:ext cx="283465" cy="0"/>
          </a:xfrm>
          <a:prstGeom prst="line">
            <a:avLst/>
          </a:prstGeom>
          <a:ln w="2159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3615E2E-624F-E2E3-D5C4-6C1896394890}"/>
              </a:ext>
            </a:extLst>
          </p:cNvPr>
          <p:cNvSpPr/>
          <p:nvPr/>
        </p:nvSpPr>
        <p:spPr>
          <a:xfrm>
            <a:off x="5074920" y="1828800"/>
            <a:ext cx="1874519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3B864C-486E-3D41-0348-CACD71AC540F}"/>
              </a:ext>
            </a:extLst>
          </p:cNvPr>
          <p:cNvSpPr/>
          <p:nvPr/>
        </p:nvSpPr>
        <p:spPr>
          <a:xfrm>
            <a:off x="5074920" y="1828800"/>
            <a:ext cx="1874519" cy="91440"/>
          </a:xfrm>
          <a:prstGeom prst="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DB2A82-43BA-693E-95D8-B194568B27EA}"/>
              </a:ext>
            </a:extLst>
          </p:cNvPr>
          <p:cNvSpPr txBox="1"/>
          <p:nvPr/>
        </p:nvSpPr>
        <p:spPr>
          <a:xfrm>
            <a:off x="5239512" y="2011680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88EE25-9537-9EBF-D70E-205AA253D4C6}"/>
              </a:ext>
            </a:extLst>
          </p:cNvPr>
          <p:cNvSpPr txBox="1"/>
          <p:nvPr/>
        </p:nvSpPr>
        <p:spPr>
          <a:xfrm>
            <a:off x="5239512" y="2395728"/>
            <a:ext cx="1554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>
                <a:solidFill>
                  <a:srgbClr val="0D192D"/>
                </a:solidFill>
                <a:latin typeface="Aptos Display"/>
              </a:defRPr>
            </a:pPr>
            <a:r>
              <a:t>CAMERA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121908-550D-D2D3-C32A-2B40AEBE8560}"/>
              </a:ext>
            </a:extLst>
          </p:cNvPr>
          <p:cNvSpPr txBox="1"/>
          <p:nvPr/>
        </p:nvSpPr>
        <p:spPr>
          <a:xfrm>
            <a:off x="5239512" y="2852928"/>
            <a:ext cx="1536192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232B36"/>
                </a:solidFill>
                <a:latin typeface="Aptos"/>
              </a:defRPr>
            </a:pPr>
            <a:r>
              <a:t>Captures the shifted spot</a:t>
            </a:r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3C8D979C-6919-D7DD-8C82-9E10B1143FD9}"/>
              </a:ext>
            </a:extLst>
          </p:cNvPr>
          <p:cNvCxnSpPr/>
          <p:nvPr/>
        </p:nvCxnSpPr>
        <p:spPr>
          <a:xfrm>
            <a:off x="6967727" y="2907792"/>
            <a:ext cx="283465" cy="0"/>
          </a:xfrm>
          <a:prstGeom prst="line">
            <a:avLst/>
          </a:prstGeom>
          <a:ln w="2159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44A6744-C373-C2D9-71E8-121055BA2456}"/>
              </a:ext>
            </a:extLst>
          </p:cNvPr>
          <p:cNvSpPr/>
          <p:nvPr/>
        </p:nvSpPr>
        <p:spPr>
          <a:xfrm>
            <a:off x="7360920" y="1828800"/>
            <a:ext cx="1874519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8AA373-9CC7-DC4E-8D20-17EA47891C0E}"/>
              </a:ext>
            </a:extLst>
          </p:cNvPr>
          <p:cNvSpPr/>
          <p:nvPr/>
        </p:nvSpPr>
        <p:spPr>
          <a:xfrm>
            <a:off x="7360920" y="1828800"/>
            <a:ext cx="1874519" cy="91440"/>
          </a:xfrm>
          <a:prstGeom prst="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30CBD-FE62-5049-FE6A-037BEE9FF630}"/>
              </a:ext>
            </a:extLst>
          </p:cNvPr>
          <p:cNvSpPr txBox="1"/>
          <p:nvPr/>
        </p:nvSpPr>
        <p:spPr>
          <a:xfrm>
            <a:off x="7525512" y="2011680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8671B2-DBF4-C828-4671-A571ED851B75}"/>
              </a:ext>
            </a:extLst>
          </p:cNvPr>
          <p:cNvSpPr txBox="1"/>
          <p:nvPr/>
        </p:nvSpPr>
        <p:spPr>
          <a:xfrm>
            <a:off x="7525512" y="2395728"/>
            <a:ext cx="1554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>
                <a:solidFill>
                  <a:srgbClr val="0D192D"/>
                </a:solidFill>
                <a:latin typeface="Aptos Display"/>
              </a:defRPr>
            </a:pPr>
            <a:r>
              <a:t>PIXEL SHIFT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760514-0558-2EC0-B7E3-BF2F1048269C}"/>
              </a:ext>
            </a:extLst>
          </p:cNvPr>
          <p:cNvSpPr txBox="1"/>
          <p:nvPr/>
        </p:nvSpPr>
        <p:spPr>
          <a:xfrm>
            <a:off x="7525512" y="2852928"/>
            <a:ext cx="1536192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232B36"/>
                </a:solidFill>
                <a:latin typeface="Aptos"/>
              </a:defRPr>
            </a:pPr>
            <a:r>
              <a:t>Software finds ΔX</a:t>
            </a:r>
          </a:p>
        </p:txBody>
      </p: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53DF9C50-584D-3C2E-C957-8F1FCB29C129}"/>
              </a:ext>
            </a:extLst>
          </p:cNvPr>
          <p:cNvCxnSpPr/>
          <p:nvPr/>
        </p:nvCxnSpPr>
        <p:spPr>
          <a:xfrm>
            <a:off x="9253728" y="2907792"/>
            <a:ext cx="283464" cy="0"/>
          </a:xfrm>
          <a:prstGeom prst="line">
            <a:avLst/>
          </a:prstGeom>
          <a:ln w="2159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6C6FF8B-FBD9-1693-1CEC-4C3E6E7279B2}"/>
              </a:ext>
            </a:extLst>
          </p:cNvPr>
          <p:cNvSpPr/>
          <p:nvPr/>
        </p:nvSpPr>
        <p:spPr>
          <a:xfrm>
            <a:off x="9646920" y="1828800"/>
            <a:ext cx="1874519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2C6E3D-9779-13E3-F2A0-638709DFA260}"/>
              </a:ext>
            </a:extLst>
          </p:cNvPr>
          <p:cNvSpPr/>
          <p:nvPr/>
        </p:nvSpPr>
        <p:spPr>
          <a:xfrm>
            <a:off x="9646920" y="1828800"/>
            <a:ext cx="1874519" cy="91440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D62E47-07DF-D61D-C479-EE8DD4728A02}"/>
              </a:ext>
            </a:extLst>
          </p:cNvPr>
          <p:cNvSpPr txBox="1"/>
          <p:nvPr/>
        </p:nvSpPr>
        <p:spPr>
          <a:xfrm>
            <a:off x="9811512" y="2011680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F2912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8E386D-96BD-F3F7-C74F-B5740D3F59FB}"/>
              </a:ext>
            </a:extLst>
          </p:cNvPr>
          <p:cNvSpPr txBox="1"/>
          <p:nvPr/>
        </p:nvSpPr>
        <p:spPr>
          <a:xfrm>
            <a:off x="9811512" y="2395728"/>
            <a:ext cx="1554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500" b="1">
                <a:solidFill>
                  <a:srgbClr val="0D192D"/>
                </a:solidFill>
                <a:latin typeface="Aptos Display"/>
              </a:defRPr>
            </a:pPr>
            <a:r>
              <a:t>HEIGHT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8309C9-DB82-392F-B27A-0DC76D10ABBB}"/>
              </a:ext>
            </a:extLst>
          </p:cNvPr>
          <p:cNvSpPr txBox="1"/>
          <p:nvPr/>
        </p:nvSpPr>
        <p:spPr>
          <a:xfrm>
            <a:off x="9811512" y="2852928"/>
            <a:ext cx="1536192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232B36"/>
                </a:solidFill>
                <a:latin typeface="Aptos"/>
              </a:defRPr>
            </a:pPr>
            <a:r>
              <a:t>Calibration converts ΔX to mm</a:t>
            </a:r>
          </a:p>
        </p:txBody>
      </p:sp>
    </p:spTree>
    <p:extLst>
      <p:ext uri="{BB962C8B-B14F-4D97-AF65-F5344CB8AC3E}">
        <p14:creationId xmlns:p14="http://schemas.microsoft.com/office/powerpoint/2010/main" val="294608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01 / PHYSICAL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t>Physical Setup &amp; Measurement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32688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Hardware arrangement and the sequence used during a measurement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98448"/>
            <a:ext cx="562356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08760"/>
            <a:ext cx="5016851" cy="2889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" y="4581144"/>
            <a:ext cx="540410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C6978"/>
                </a:solidFill>
                <a:latin typeface="Aptos"/>
              </a:defRPr>
            </a:pPr>
            <a:r>
              <a:t>Actual experimental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98448"/>
            <a:ext cx="544068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holder_dimension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488" y="1678980"/>
            <a:ext cx="4778512" cy="28472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73368" y="4581144"/>
            <a:ext cx="522122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C6978"/>
                </a:solidFill>
                <a:latin typeface="Aptos"/>
              </a:defRPr>
            </a:pPr>
            <a:r>
              <a:t>3D-printed holder with dimensions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74920"/>
            <a:ext cx="19933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5074920"/>
            <a:ext cx="438912" cy="713232"/>
          </a:xfrm>
          <a:prstGeom prst="round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5248656"/>
            <a:ext cx="228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5221224"/>
            <a:ext cx="13258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70" b="1">
                <a:solidFill>
                  <a:srgbClr val="0D192D"/>
                </a:solidFill>
                <a:latin typeface="Aptos"/>
              </a:defRPr>
            </a:pPr>
            <a:r>
              <a:t>Place reference / object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70632" y="5074920"/>
            <a:ext cx="19933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770632" y="5074920"/>
            <a:ext cx="438912" cy="713232"/>
          </a:xfrm>
          <a:prstGeom prst="round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80360" y="5248656"/>
            <a:ext cx="228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00984" y="5221224"/>
            <a:ext cx="13258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70" b="1">
                <a:solidFill>
                  <a:srgbClr val="0D192D"/>
                </a:solidFill>
                <a:latin typeface="Aptos"/>
              </a:defRPr>
            </a:pPr>
            <a:r>
              <a:t>Laser forms spot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38344" y="5074920"/>
            <a:ext cx="19933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38344" y="5074920"/>
            <a:ext cx="438912" cy="713232"/>
          </a:xfrm>
          <a:prstGeom prst="round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48072" y="5248656"/>
            <a:ext cx="228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5221224"/>
            <a:ext cx="13258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70" b="1">
                <a:solidFill>
                  <a:srgbClr val="0D192D"/>
                </a:solidFill>
                <a:latin typeface="Aptos"/>
              </a:defRPr>
            </a:pPr>
            <a:r>
              <a:t>Camera captures 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6055" y="5074920"/>
            <a:ext cx="19933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06055" y="5074920"/>
            <a:ext cx="438912" cy="713232"/>
          </a:xfrm>
          <a:prstGeom prst="round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15783" y="5248656"/>
            <a:ext cx="228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7" y="5221224"/>
            <a:ext cx="13258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70" b="1">
                <a:solidFill>
                  <a:srgbClr val="0D192D"/>
                </a:solidFill>
                <a:latin typeface="Aptos"/>
              </a:defRPr>
            </a:pPr>
            <a:r>
              <a:t>Find spot centre 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73768" y="5074920"/>
            <a:ext cx="199339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573768" y="5074920"/>
            <a:ext cx="438912" cy="713232"/>
          </a:xfrm>
          <a:prstGeom prst="round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83496" y="5248656"/>
            <a:ext cx="228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5221224"/>
            <a:ext cx="13258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70" b="1">
                <a:solidFill>
                  <a:srgbClr val="0D192D"/>
                </a:solidFill>
                <a:latin typeface="Aptos"/>
              </a:defRPr>
            </a:pPr>
            <a:r>
              <a:t>Convert shift to height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02 /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t>System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32688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Hardware, geometry and calibrated measurement span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653119"/>
              </p:ext>
            </p:extLst>
          </p:nvPr>
        </p:nvGraphicFramePr>
        <p:xfrm>
          <a:off x="502920" y="1325880"/>
          <a:ext cx="67208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62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Specification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Camera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Raspberry Pi Camera Rev 1</a:t>
                      </a:r>
                      <a:r>
                        <a:rPr lang="en-US" dirty="0"/>
                        <a:t>.5</a:t>
                      </a:r>
                      <a:endParaRPr dirty="0"/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Image resolution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2592 × 1944 pixels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Pixel pitch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1.4 µm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Horizontal / vertical FOV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5</a:t>
                      </a:r>
                      <a:r>
                        <a:rPr lang="en-IN" dirty="0"/>
                        <a:t>3.5</a:t>
                      </a:r>
                      <a:r>
                        <a:rPr dirty="0"/>
                        <a:t>° / 4</a:t>
                      </a:r>
                      <a:r>
                        <a:rPr lang="en-IN" dirty="0"/>
                        <a:t>1.41</a:t>
                      </a:r>
                      <a:r>
                        <a:rPr dirty="0"/>
                        <a:t>°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Camera–laser baseline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lang="en-IN" dirty="0"/>
                        <a:t>117.3</a:t>
                      </a:r>
                      <a:r>
                        <a:rPr dirty="0"/>
                        <a:t> mm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Camera-to-reference distance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lang="en-IN" dirty="0"/>
                        <a:t>139.0</a:t>
                      </a:r>
                      <a:r>
                        <a:rPr dirty="0"/>
                        <a:t> mm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Triangulation angle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lang="en-IN" dirty="0"/>
                        <a:t>49.9</a:t>
                      </a:r>
                      <a:r>
                        <a:rPr dirty="0"/>
                        <a:t>0°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Detection ROI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X = 900–2400 px; Y = 1250–1550 px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Calibrated height range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0–50 mm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325880"/>
            <a:ext cx="41605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1572768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1">
                <a:solidFill>
                  <a:srgbClr val="F2912D"/>
                </a:solidFill>
                <a:latin typeface="Aptos"/>
              </a:defRPr>
            </a:pPr>
            <a:r>
              <a:t>MEASUREMENT SPAN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11680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0 mm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011680"/>
            <a:ext cx="1920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>
                <a:solidFill>
                  <a:srgbClr val="0D192D"/>
                </a:solidFill>
                <a:latin typeface="Aptos"/>
              </a:defRPr>
            </a:pPr>
            <a:r>
              <a:t>X₀ = 1187.92 px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487168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50 mm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487168"/>
            <a:ext cx="1920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>
                <a:solidFill>
                  <a:srgbClr val="0D192D"/>
                </a:solidFill>
                <a:latin typeface="Aptos"/>
              </a:defRPr>
            </a:pPr>
            <a:r>
              <a:t>X₅₀ = 2344.15 px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154680"/>
            <a:ext cx="3383280" cy="73152"/>
          </a:xfrm>
          <a:prstGeom prst="rect">
            <a:avLst/>
          </a:prstGeom>
          <a:solidFill>
            <a:srgbClr val="D6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63840" y="2999232"/>
            <a:ext cx="3383280" cy="384048"/>
          </a:xfrm>
          <a:prstGeom prst="roundRect">
            <a:avLst/>
          </a:prstGeom>
          <a:solidFill>
            <a:srgbClr val="E8F1F7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863840" y="2999232"/>
            <a:ext cx="3383280" cy="384048"/>
          </a:xfrm>
          <a:prstGeom prst="round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45552" y="3502152"/>
            <a:ext cx="640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>
                <a:solidFill>
                  <a:srgbClr val="5C6978"/>
                </a:solidFill>
                <a:latin typeface="Aptos"/>
              </a:defRPr>
            </a:pPr>
            <a:r>
              <a:t>0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88752" y="350215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0">
                <a:solidFill>
                  <a:srgbClr val="5C6978"/>
                </a:solidFill>
                <a:latin typeface="Aptos"/>
              </a:defRPr>
            </a:pPr>
            <a:r>
              <a:t>50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69080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Total horizontal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4041648"/>
            <a:ext cx="1554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600" b="1">
                <a:solidFill>
                  <a:srgbClr val="F2912D"/>
                </a:solidFill>
                <a:latin typeface="Aptos"/>
              </a:defRPr>
            </a:pPr>
            <a:r>
              <a:t>1156.22 px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498848"/>
            <a:ext cx="1920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Average over full 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4480560"/>
            <a:ext cx="1554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600" b="1">
                <a:solidFill>
                  <a:srgbClr val="0D192D"/>
                </a:solidFill>
                <a:latin typeface="Aptos"/>
              </a:defRPr>
            </a:pPr>
            <a:r>
              <a:t>23.12 px/mm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074920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>
                <a:solidFill>
                  <a:srgbClr val="232B36"/>
                </a:solidFill>
                <a:latin typeface="Aptos"/>
              </a:defRPr>
            </a:pPr>
            <a:r>
              <a:t>The local shift per mm is not constant, which is why a calibration curve is used instead of one straight conversion.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02 /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t>Theoretical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32688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Definition, formula and calculation for the main geometry-based parameters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62356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4864" cy="1572768"/>
          </a:xfrm>
          <a:prstGeom prst="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303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0D192D"/>
                </a:solidFill>
                <a:latin typeface="Aptos Display"/>
              </a:defRPr>
            </a:pPr>
            <a:r>
              <a:t>X lateral 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5303520" cy="70121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232B36"/>
                </a:solidFill>
                <a:latin typeface="Aptos"/>
              </a:defRPr>
            </a:pPr>
            <a:r>
              <a:rPr dirty="0"/>
              <a:t> </a:t>
            </a:r>
            <a:r>
              <a:rPr lang="en-US" dirty="0"/>
              <a:t>P</a:t>
            </a:r>
            <a:r>
              <a:rPr dirty="0"/>
              <a:t>hysical distance represented by one horizontal pixel at the working distance.</a:t>
            </a:r>
            <a:br>
              <a:rPr dirty="0"/>
            </a:br>
            <a:r>
              <a:rPr dirty="0"/>
              <a:t>Formula: Rₓ = FOVₓ / Nₓ</a:t>
            </a:r>
            <a:br>
              <a:rPr dirty="0"/>
            </a:br>
            <a:r>
              <a:rPr dirty="0"/>
              <a:t>FOVₓ = 2D tan(FOVₓ/2) = 145.72 mm; Nₓ = 2592</a:t>
            </a:r>
            <a:br>
              <a:rPr dirty="0"/>
            </a:br>
            <a:r>
              <a:rPr dirty="0"/>
              <a:t>Rₓ ≈ 0.0562 mm/pixel.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5321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54864" cy="1572768"/>
          </a:xfrm>
          <a:prstGeom prst="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371600"/>
            <a:ext cx="5212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0D192D"/>
                </a:solidFill>
                <a:latin typeface="Aptos Display"/>
              </a:defRPr>
            </a:pPr>
            <a:r>
              <a:t>Y lateral 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37360"/>
            <a:ext cx="5212080" cy="70121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232B36"/>
                </a:solidFill>
                <a:latin typeface="Aptos"/>
              </a:defRPr>
            </a:pPr>
            <a:r>
              <a:rPr lang="en-US" dirty="0"/>
              <a:t>P</a:t>
            </a:r>
            <a:r>
              <a:rPr dirty="0"/>
              <a:t>hysical distance represented by one vertical pixel.</a:t>
            </a:r>
            <a:br>
              <a:rPr dirty="0"/>
            </a:br>
            <a:r>
              <a:rPr dirty="0"/>
              <a:t>Formula: Rᵧ = FOVᵧ / Nᵧ</a:t>
            </a:r>
            <a:br>
              <a:rPr dirty="0"/>
            </a:br>
            <a:r>
              <a:rPr dirty="0"/>
              <a:t>FOVᵧ = 2D tan(FOVᵧ/2) = 106.93 mm; Nᵧ = 1944</a:t>
            </a:r>
            <a:br>
              <a:rPr dirty="0"/>
            </a:br>
            <a:r>
              <a:rPr dirty="0"/>
              <a:t>Rᵧ ≈ 0.0550 mm/pixel.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562356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54864" cy="157276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154679"/>
            <a:ext cx="5303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0D192D"/>
                </a:solidFill>
                <a:latin typeface="Aptos Display"/>
              </a:defRPr>
            </a:pPr>
            <a:r>
              <a:t>Depth sensitivity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20439"/>
            <a:ext cx="5303520" cy="5443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232B36"/>
                </a:solidFill>
                <a:latin typeface="Aptos"/>
              </a:defRPr>
            </a:pPr>
            <a:r>
              <a:rPr lang="en-US" dirty="0"/>
              <a:t>A</a:t>
            </a:r>
            <a:r>
              <a:rPr dirty="0"/>
              <a:t>pproximate height change produced by one horizontal pixel of spot movement.</a:t>
            </a:r>
            <a:br>
              <a:rPr dirty="0"/>
            </a:br>
            <a:r>
              <a:rPr dirty="0"/>
              <a:t>From H = ΔD tan </a:t>
            </a:r>
            <a:r>
              <a:rPr dirty="0" err="1"/>
              <a:t>θ</a:t>
            </a:r>
            <a:r>
              <a:rPr dirty="0"/>
              <a:t>: Rz ≈ Rₓ tan </a:t>
            </a:r>
            <a:r>
              <a:rPr dirty="0" err="1"/>
              <a:t>θ</a:t>
            </a:r>
            <a:br>
              <a:rPr dirty="0"/>
            </a:br>
            <a:r>
              <a:rPr dirty="0"/>
              <a:t>= 0.0562 × tan(50°) ≈ 0.0670 mm/pixel.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017520"/>
            <a:ext cx="55321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017520"/>
            <a:ext cx="54864" cy="1572768"/>
          </a:xfrm>
          <a:prstGeom prst="rect">
            <a:avLst/>
          </a:prstGeom>
          <a:solidFill>
            <a:srgbClr val="2C9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154679"/>
            <a:ext cx="5212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0D192D"/>
                </a:solidFill>
                <a:latin typeface="Aptos Display"/>
              </a:defRPr>
            </a:pPr>
            <a:r>
              <a:t>Measurement 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520439"/>
            <a:ext cx="5212080" cy="70121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19" b="0">
                <a:solidFill>
                  <a:srgbClr val="232B36"/>
                </a:solidFill>
                <a:latin typeface="Aptos"/>
              </a:defRPr>
            </a:pPr>
            <a:r>
              <a:rPr lang="en-US" dirty="0"/>
              <a:t>C</a:t>
            </a:r>
            <a:r>
              <a:rPr dirty="0"/>
              <a:t>alibrated height interval over which the system is used.</a:t>
            </a:r>
            <a:br>
              <a:rPr dirty="0"/>
            </a:br>
            <a:r>
              <a:rPr dirty="0"/>
              <a:t>Formula: Range = </a:t>
            </a:r>
            <a:r>
              <a:rPr dirty="0" err="1"/>
              <a:t>hmax</a:t>
            </a:r>
            <a:r>
              <a:rPr dirty="0"/>
              <a:t> − </a:t>
            </a:r>
            <a:r>
              <a:rPr dirty="0" err="1"/>
              <a:t>hmin</a:t>
            </a:r>
            <a:br>
              <a:rPr dirty="0"/>
            </a:br>
            <a:r>
              <a:rPr dirty="0"/>
              <a:t>= 50 − 0 = 50 mm.</a:t>
            </a:r>
            <a:br>
              <a:rPr dirty="0"/>
            </a:br>
            <a:r>
              <a:rPr dirty="0"/>
              <a:t>The calibration code uses points from 0 to 50 mm.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02 /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t>Calibration Height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32688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Mean laser position, horizontal shift and measured spot width at the calibration heights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105613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Height (mm)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X (px)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ΔX from 0 mm (px)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Shift / interval (px/mm)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Spot width (px)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1187.92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0.00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105.3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1242.71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54.79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18.26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67.7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1283.94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96.02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13.74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75.3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1333.65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145.72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16.57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82.3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1377.70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189.78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14.69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84.4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1440.36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252.43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20.88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80.0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1488.95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301.03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16.20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82.5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1551.40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363.48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20.82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90.5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1613.12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425.20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20.57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92.2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1678.99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491.07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21.96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98.1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30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1741.49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553.57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20.83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97.7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34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1849.84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661.91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27.09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96.0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40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2024.87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836.95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29.17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103.3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46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2204.26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1016.33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29.90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105.1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2344.15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1156.22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34.97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110.4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" y="6382512"/>
            <a:ext cx="10972800" cy="237744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391656"/>
            <a:ext cx="10698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50" b="0">
                <a:solidFill>
                  <a:srgbClr val="5C6978"/>
                </a:solidFill>
                <a:latin typeface="Aptos"/>
              </a:defRPr>
            </a:pPr>
            <a:r>
              <a:t>Calibration points: 0–30 mm in 3 mm steps, then 34, 40, 46 and 50 mm.  Overall shift = 1156.22 px.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02 / 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t>Laser Spot Used for 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32688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The image feature that the software tracks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59893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aser spo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801703" y="1618488"/>
            <a:ext cx="5453482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5541264"/>
            <a:ext cx="576986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C6978"/>
                </a:solidFill>
                <a:latin typeface="Aptos"/>
              </a:defRPr>
            </a:pPr>
            <a:r>
              <a:t>Measured red laser spot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298448"/>
            <a:ext cx="489204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12280" y="1298448"/>
            <a:ext cx="54864" cy="1170432"/>
          </a:xfrm>
          <a:prstGeom prst="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5160" y="1435607"/>
            <a:ext cx="4572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0D192D"/>
                </a:solidFill>
                <a:latin typeface="Aptos Display"/>
              </a:defRPr>
            </a:pPr>
            <a:r>
              <a:t>1. Find the red spot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801368"/>
            <a:ext cx="45720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232B36"/>
                </a:solidFill>
                <a:latin typeface="Aptos"/>
              </a:defRPr>
            </a:pPr>
            <a:r>
              <a:t>The camera image is searched inside the fixed measurement region.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670048"/>
            <a:ext cx="489204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12280" y="2670048"/>
            <a:ext cx="54864" cy="1170432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2807208"/>
            <a:ext cx="4572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0D192D"/>
                </a:solidFill>
                <a:latin typeface="Aptos Display"/>
              </a:defRPr>
            </a:pPr>
            <a:r>
              <a:t>2. Find its centre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172968"/>
            <a:ext cx="45720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232B36"/>
                </a:solidFill>
                <a:latin typeface="Aptos"/>
              </a:defRPr>
            </a:pPr>
            <a:r>
              <a:t>The bright spot is reduced to one horizontal centre position 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4041648"/>
            <a:ext cx="489204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12280" y="4041648"/>
            <a:ext cx="54864" cy="1170432"/>
          </a:xfrm>
          <a:prstGeom prst="rect">
            <a:avLst/>
          </a:prstGeom>
          <a:solidFill>
            <a:srgbClr val="2C9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95160" y="4178808"/>
            <a:ext cx="4572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0D192D"/>
                </a:solidFill>
                <a:latin typeface="Aptos Display"/>
              </a:defRPr>
            </a:pPr>
            <a:r>
              <a:t>3. Use the X shift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544568"/>
            <a:ext cx="45720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232B36"/>
                </a:solidFill>
                <a:latin typeface="Aptos"/>
              </a:defRPr>
            </a:pPr>
            <a:r>
              <a:t>Xobject − Xreference gives ΔX, which is then converted to height.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5559552"/>
            <a:ext cx="4892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0D192D"/>
                </a:solidFill>
                <a:latin typeface="Aptos"/>
              </a:defRPr>
            </a:pPr>
            <a:r>
              <a:t>Average detected spot width during calibration ≈ 91.4 px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03 /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t>Software Flow — Calibration → Height 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32688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Two Python programs share one saved calibration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5440680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89320" y="1234440"/>
            <a:ext cx="5760720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4892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25AAB8"/>
                </a:solidFill>
                <a:latin typeface="Aptos Display"/>
              </a:defRPr>
            </a:pPr>
            <a:r>
              <a:t>CALIBRATION.PY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481328"/>
            <a:ext cx="5212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F2912D"/>
                </a:solidFill>
                <a:latin typeface="Aptos Display"/>
              </a:defRPr>
            </a:pPr>
            <a:r>
              <a:t>HEIGHT_CALC.PY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874519"/>
            <a:ext cx="4709160" cy="329184"/>
          </a:xfrm>
          <a:prstGeom prst="roundRect">
            <a:avLst/>
          </a:prstGeom>
          <a:solidFill>
            <a:srgbClr val="EEF6F8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929384"/>
            <a:ext cx="44165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19" b="1">
                <a:solidFill>
                  <a:srgbClr val="0D192D"/>
                </a:solidFill>
                <a:latin typeface="Aptos"/>
              </a:defRPr>
            </a:pPr>
            <a:r>
              <a:t>Load camera + detector settings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2203703"/>
            <a:ext cx="0" cy="100584"/>
          </a:xfrm>
          <a:prstGeom prst="line">
            <a:avLst/>
          </a:prstGeom>
          <a:ln w="1397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9808" y="2340863"/>
            <a:ext cx="4709160" cy="329184"/>
          </a:xfrm>
          <a:prstGeom prst="roundRect">
            <a:avLst/>
          </a:prstGeom>
          <a:solidFill>
            <a:srgbClr val="EEF6F8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395727"/>
            <a:ext cx="44165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19" b="1">
                <a:solidFill>
                  <a:srgbClr val="0D192D"/>
                </a:solidFill>
                <a:latin typeface="Aptos"/>
              </a:defRPr>
            </a:pPr>
            <a:r>
              <a:t>Capture known heights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0" y="2670047"/>
            <a:ext cx="0" cy="100584"/>
          </a:xfrm>
          <a:prstGeom prst="line">
            <a:avLst/>
          </a:prstGeom>
          <a:ln w="1397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9808" y="2807208"/>
            <a:ext cx="4709160" cy="329184"/>
          </a:xfrm>
          <a:prstGeom prst="roundRect">
            <a:avLst/>
          </a:prstGeom>
          <a:solidFill>
            <a:srgbClr val="EEF6F8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2862072"/>
            <a:ext cx="44165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19" b="1">
                <a:solidFill>
                  <a:srgbClr val="0D192D"/>
                </a:solidFill>
                <a:latin typeface="Aptos"/>
              </a:defRPr>
            </a:pPr>
            <a:r>
              <a:t>Detect laser centre X,Y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08960" y="3136391"/>
            <a:ext cx="0" cy="100585"/>
          </a:xfrm>
          <a:prstGeom prst="line">
            <a:avLst/>
          </a:prstGeom>
          <a:ln w="1397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273552"/>
            <a:ext cx="4709160" cy="329184"/>
          </a:xfrm>
          <a:prstGeom prst="roundRect">
            <a:avLst/>
          </a:prstGeom>
          <a:solidFill>
            <a:srgbClr val="EEF6F8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328416"/>
            <a:ext cx="44165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19" b="1">
                <a:solidFill>
                  <a:srgbClr val="0D192D"/>
                </a:solidFill>
                <a:latin typeface="Aptos"/>
              </a:defRPr>
            </a:pPr>
            <a:r>
              <a:t>Reject outliers + average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08960" y="3602736"/>
            <a:ext cx="0" cy="100584"/>
          </a:xfrm>
          <a:prstGeom prst="line">
            <a:avLst/>
          </a:prstGeom>
          <a:ln w="1397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9808" y="3739896"/>
            <a:ext cx="4709160" cy="329184"/>
          </a:xfrm>
          <a:prstGeom prst="roundRect">
            <a:avLst/>
          </a:prstGeom>
          <a:solidFill>
            <a:srgbClr val="EEF6F8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794759"/>
            <a:ext cx="44165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19" b="1">
                <a:solidFill>
                  <a:srgbClr val="0D192D"/>
                </a:solidFill>
                <a:latin typeface="Aptos"/>
              </a:defRPr>
            </a:pPr>
            <a:r>
              <a:t>Build height vs ΔX 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08960" y="4069080"/>
            <a:ext cx="0" cy="100583"/>
          </a:xfrm>
          <a:prstGeom prst="line">
            <a:avLst/>
          </a:prstGeom>
          <a:ln w="1397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9808" y="4206240"/>
            <a:ext cx="4709160" cy="329184"/>
          </a:xfrm>
          <a:prstGeom prst="roundRect">
            <a:avLst/>
          </a:prstGeom>
          <a:solidFill>
            <a:srgbClr val="EEF6F8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261103"/>
            <a:ext cx="44165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19" b="1">
                <a:solidFill>
                  <a:srgbClr val="0D192D"/>
                </a:solidFill>
                <a:latin typeface="Aptos"/>
              </a:defRPr>
            </a:pPr>
            <a:r>
              <a:t>Test 4 curve models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08960" y="4535424"/>
            <a:ext cx="0" cy="100583"/>
          </a:xfrm>
          <a:prstGeom prst="line">
            <a:avLst/>
          </a:prstGeom>
          <a:ln w="1397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49808" y="4672583"/>
            <a:ext cx="4709160" cy="329184"/>
          </a:xfrm>
          <a:prstGeom prst="roundRect">
            <a:avLst/>
          </a:prstGeom>
          <a:solidFill>
            <a:srgbClr val="EEF6F8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4727447"/>
            <a:ext cx="44165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19" b="1">
                <a:solidFill>
                  <a:srgbClr val="0D192D"/>
                </a:solidFill>
                <a:latin typeface="Aptos"/>
              </a:defRPr>
            </a:pPr>
            <a:r>
              <a:t>Select best model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08960" y="5001768"/>
            <a:ext cx="0" cy="100583"/>
          </a:xfrm>
          <a:prstGeom prst="line">
            <a:avLst/>
          </a:prstGeom>
          <a:ln w="1397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9808" y="5138928"/>
            <a:ext cx="4709160" cy="329184"/>
          </a:xfrm>
          <a:prstGeom prst="roundRect">
            <a:avLst/>
          </a:prstGeom>
          <a:solidFill>
            <a:srgbClr val="EEF6F8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5193792"/>
            <a:ext cx="441655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19" b="1">
                <a:solidFill>
                  <a:srgbClr val="0D192D"/>
                </a:solidFill>
                <a:latin typeface="Aptos"/>
              </a:defRPr>
            </a:pPr>
            <a:r>
              <a:t>Save calibration_model.json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27648" y="1874519"/>
            <a:ext cx="5074920" cy="329184"/>
          </a:xfrm>
          <a:prstGeom prst="roundRect">
            <a:avLst/>
          </a:prstGeom>
          <a:solidFill>
            <a:srgbClr val="E8F1F7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1929384"/>
            <a:ext cx="4754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Load calibration_model.json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869680" y="2203703"/>
            <a:ext cx="0" cy="100584"/>
          </a:xfrm>
          <a:prstGeom prst="line">
            <a:avLst/>
          </a:prstGeom>
          <a:ln w="1397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327648" y="2340863"/>
            <a:ext cx="5074920" cy="329184"/>
          </a:xfrm>
          <a:prstGeom prst="roundRect">
            <a:avLst/>
          </a:prstGeom>
          <a:solidFill>
            <a:srgbClr val="E8F1F7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2395727"/>
            <a:ext cx="4754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Lock saved detector/camera settings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869680" y="2670047"/>
            <a:ext cx="0" cy="100584"/>
          </a:xfrm>
          <a:prstGeom prst="line">
            <a:avLst/>
          </a:prstGeom>
          <a:ln w="1397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327648" y="2807208"/>
            <a:ext cx="5074920" cy="329184"/>
          </a:xfrm>
          <a:prstGeom prst="roundRect">
            <a:avLst/>
          </a:prstGeom>
          <a:solidFill>
            <a:srgbClr val="E8F1F7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0" y="2862072"/>
            <a:ext cx="4754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Capture 0 mm reference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869680" y="3136391"/>
            <a:ext cx="0" cy="100585"/>
          </a:xfrm>
          <a:prstGeom prst="line">
            <a:avLst/>
          </a:prstGeom>
          <a:ln w="1397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327648" y="3273552"/>
            <a:ext cx="5074920" cy="329184"/>
          </a:xfrm>
          <a:prstGeom prst="roundRect">
            <a:avLst/>
          </a:prstGeom>
          <a:solidFill>
            <a:srgbClr val="E8F1F7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3328416"/>
            <a:ext cx="4754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Capture object shots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869680" y="3602736"/>
            <a:ext cx="0" cy="100584"/>
          </a:xfrm>
          <a:prstGeom prst="line">
            <a:avLst/>
          </a:prstGeom>
          <a:ln w="1397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327648" y="3739896"/>
            <a:ext cx="5074920" cy="329184"/>
          </a:xfrm>
          <a:prstGeom prst="roundRect">
            <a:avLst/>
          </a:prstGeom>
          <a:solidFill>
            <a:srgbClr val="E8F1F7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3794759"/>
            <a:ext cx="4754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Detect + filter spot positions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869680" y="4069080"/>
            <a:ext cx="0" cy="100583"/>
          </a:xfrm>
          <a:prstGeom prst="line">
            <a:avLst/>
          </a:prstGeom>
          <a:ln w="1397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327648" y="4206240"/>
            <a:ext cx="5074920" cy="329184"/>
          </a:xfrm>
          <a:prstGeom prst="roundRect">
            <a:avLst/>
          </a:prstGeom>
          <a:solidFill>
            <a:srgbClr val="E8F1F7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92240" y="4261103"/>
            <a:ext cx="4754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Compute ΔX and normalize u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869680" y="4535424"/>
            <a:ext cx="0" cy="100583"/>
          </a:xfrm>
          <a:prstGeom prst="line">
            <a:avLst/>
          </a:prstGeom>
          <a:ln w="1397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327648" y="4672583"/>
            <a:ext cx="5074920" cy="329184"/>
          </a:xfrm>
          <a:prstGeom prst="roundRect">
            <a:avLst/>
          </a:prstGeom>
          <a:solidFill>
            <a:srgbClr val="E8F1F7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92240" y="4727447"/>
            <a:ext cx="4754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Apply saved model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869680" y="5001768"/>
            <a:ext cx="0" cy="100583"/>
          </a:xfrm>
          <a:prstGeom prst="line">
            <a:avLst/>
          </a:prstGeom>
          <a:ln w="1397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327648" y="5138928"/>
            <a:ext cx="5074920" cy="329184"/>
          </a:xfrm>
          <a:prstGeom prst="roundRect">
            <a:avLst/>
          </a:prstGeom>
          <a:solidFill>
            <a:srgbClr val="E8F1F7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92240" y="5193792"/>
            <a:ext cx="4754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Print + save height result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66360" y="6300216"/>
            <a:ext cx="18288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calibration_model.json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03 /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t>Calibration Algorithm &amp; Data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32688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Detailed processing performed by calibration.py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16152"/>
            <a:ext cx="7635240" cy="310896"/>
          </a:xfrm>
          <a:prstGeom prst="round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" y="1216152"/>
            <a:ext cx="1874519" cy="310896"/>
          </a:xfrm>
          <a:prstGeom prst="round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66444"/>
            <a:ext cx="169164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869" b="1">
                <a:solidFill>
                  <a:srgbClr val="FFFFFF"/>
                </a:solidFill>
                <a:latin typeface="Aptos"/>
              </a:defRPr>
            </a:pPr>
            <a:r>
              <a:t>1. 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266444"/>
            <a:ext cx="53218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80" b="0">
                <a:solidFill>
                  <a:srgbClr val="FFFFFF"/>
                </a:solidFill>
                <a:latin typeface="Aptos"/>
              </a:defRPr>
            </a:pPr>
            <a:r>
              <a:t>Lock / save exposure, gain and colour gains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6240" y="1527048"/>
            <a:ext cx="0" cy="82296"/>
          </a:xfrm>
          <a:prstGeom prst="line">
            <a:avLst/>
          </a:prstGeom>
          <a:ln w="1143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1480" y="1627632"/>
            <a:ext cx="76352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1480" y="1627632"/>
            <a:ext cx="1874519" cy="310896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677924"/>
            <a:ext cx="169164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869" b="1">
                <a:solidFill>
                  <a:srgbClr val="0D192D"/>
                </a:solidFill>
                <a:latin typeface="Aptos"/>
              </a:defRPr>
            </a:pPr>
            <a:r>
              <a:t>2. HEIGHTS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1677924"/>
            <a:ext cx="53218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80" b="0">
                <a:solidFill>
                  <a:srgbClr val="232B36"/>
                </a:solidFill>
                <a:latin typeface="Aptos"/>
              </a:defRPr>
            </a:pPr>
            <a:r>
              <a:t>0, 3, 6 … 30, 34, 40, 46, 50 mm + 10 known objects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1938528"/>
            <a:ext cx="0" cy="82296"/>
          </a:xfrm>
          <a:prstGeom prst="line">
            <a:avLst/>
          </a:prstGeom>
          <a:ln w="1143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1480" y="2039112"/>
            <a:ext cx="76352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1480" y="2039112"/>
            <a:ext cx="1874519" cy="310896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089404"/>
            <a:ext cx="169164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869" b="1">
                <a:solidFill>
                  <a:srgbClr val="0D192D"/>
                </a:solidFill>
                <a:latin typeface="Aptos"/>
              </a:defRPr>
            </a:pPr>
            <a:r>
              <a:t>3. 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089404"/>
            <a:ext cx="53218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80" b="0">
                <a:solidFill>
                  <a:srgbClr val="232B36"/>
                </a:solidFill>
                <a:latin typeface="Aptos"/>
              </a:defRPr>
            </a:pPr>
            <a:r>
              <a:t>30 frames at each known height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06240" y="2350008"/>
            <a:ext cx="0" cy="82296"/>
          </a:xfrm>
          <a:prstGeom prst="line">
            <a:avLst/>
          </a:prstGeom>
          <a:ln w="1143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" y="2450592"/>
            <a:ext cx="76352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11480" y="2450592"/>
            <a:ext cx="1874519" cy="310896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2500884"/>
            <a:ext cx="169164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869" b="1">
                <a:solidFill>
                  <a:srgbClr val="0D192D"/>
                </a:solidFill>
                <a:latin typeface="Aptos"/>
              </a:defRPr>
            </a:pPr>
            <a:r>
              <a:t>4. ROI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500884"/>
            <a:ext cx="53218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80" b="0">
                <a:solidFill>
                  <a:srgbClr val="232B36"/>
                </a:solidFill>
                <a:latin typeface="Aptos"/>
              </a:defRPr>
            </a:pPr>
            <a:r>
              <a:t>Crop X=900–2400, Y=1250–1550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06240" y="2761488"/>
            <a:ext cx="0" cy="82296"/>
          </a:xfrm>
          <a:prstGeom prst="line">
            <a:avLst/>
          </a:prstGeom>
          <a:ln w="1143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11480" y="2862072"/>
            <a:ext cx="76352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11480" y="2862072"/>
            <a:ext cx="1874519" cy="310896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2912364"/>
            <a:ext cx="169164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869" b="1">
                <a:solidFill>
                  <a:srgbClr val="0D192D"/>
                </a:solidFill>
                <a:latin typeface="Aptos"/>
              </a:defRPr>
            </a:pPr>
            <a:r>
              <a:t>5. COARSE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2912364"/>
            <a:ext cx="5321808" cy="2092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80" b="0">
                <a:solidFill>
                  <a:srgbClr val="232B36"/>
                </a:solidFill>
                <a:latin typeface="Aptos"/>
              </a:defRPr>
            </a:pPr>
            <a:r>
              <a:rPr dirty="0"/>
              <a:t>Red-dominant threshold 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206240" y="3172968"/>
            <a:ext cx="0" cy="82296"/>
          </a:xfrm>
          <a:prstGeom prst="line">
            <a:avLst/>
          </a:prstGeom>
          <a:ln w="1143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11480" y="3273552"/>
            <a:ext cx="76352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11480" y="3273552"/>
            <a:ext cx="1874519" cy="310896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323844"/>
            <a:ext cx="169164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869" b="1">
                <a:solidFill>
                  <a:srgbClr val="0D192D"/>
                </a:solidFill>
                <a:latin typeface="Aptos"/>
              </a:defRPr>
            </a:pPr>
            <a:r>
              <a:t>6. FINE CENTRE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3323844"/>
            <a:ext cx="5321808" cy="2092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80" b="0">
                <a:solidFill>
                  <a:srgbClr val="232B36"/>
                </a:solidFill>
                <a:latin typeface="Aptos"/>
              </a:defRPr>
            </a:pPr>
            <a:r>
              <a:rPr dirty="0"/>
              <a:t>Gaussian blur → local background → 60% peak threshold 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206240" y="3584448"/>
            <a:ext cx="0" cy="82296"/>
          </a:xfrm>
          <a:prstGeom prst="line">
            <a:avLst/>
          </a:prstGeom>
          <a:ln w="1143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11480" y="3685032"/>
            <a:ext cx="76352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11480" y="3685032"/>
            <a:ext cx="1874519" cy="310896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3735324"/>
            <a:ext cx="1691640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869" b="1">
                <a:solidFill>
                  <a:srgbClr val="0D192D"/>
                </a:solidFill>
                <a:latin typeface="Aptos"/>
              </a:defRPr>
            </a:pPr>
            <a:r>
              <a:t>7. CENTROID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3735324"/>
            <a:ext cx="53218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80" b="0">
                <a:solidFill>
                  <a:srgbClr val="232B36"/>
                </a:solidFill>
                <a:latin typeface="Aptos"/>
              </a:defRPr>
            </a:pPr>
            <a:r>
              <a:rPr dirty="0"/>
              <a:t>Weighted red-channel centroid gives sub-pixel X,Y + spot width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206240" y="3995928"/>
            <a:ext cx="0" cy="82296"/>
          </a:xfrm>
          <a:prstGeom prst="line">
            <a:avLst/>
          </a:prstGeom>
          <a:ln w="1143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206240" y="4013998"/>
            <a:ext cx="0" cy="82296"/>
          </a:xfrm>
          <a:prstGeom prst="line">
            <a:avLst/>
          </a:prstGeom>
          <a:ln w="1143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411480" y="4114582"/>
            <a:ext cx="76352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11480" y="4114582"/>
            <a:ext cx="1874519" cy="310896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13806" y="4164873"/>
            <a:ext cx="1691640" cy="2076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869" b="1">
                <a:solidFill>
                  <a:srgbClr val="0D192D"/>
                </a:solidFill>
                <a:latin typeface="Aptos"/>
              </a:defRPr>
            </a:pPr>
            <a:r>
              <a:rPr lang="en-IN" dirty="0"/>
              <a:t>8</a:t>
            </a:r>
            <a:r>
              <a:rPr dirty="0"/>
              <a:t>. SHIFT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4164873"/>
            <a:ext cx="53218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80" b="0">
                <a:solidFill>
                  <a:srgbClr val="232B36"/>
                </a:solidFill>
                <a:latin typeface="Aptos"/>
              </a:defRPr>
            </a:pPr>
            <a:r>
              <a:t>0 mm mean X becomes reference; compute ΔX for every height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206240" y="4425478"/>
            <a:ext cx="0" cy="82295"/>
          </a:xfrm>
          <a:prstGeom prst="line">
            <a:avLst/>
          </a:prstGeom>
          <a:ln w="1143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11480" y="4526062"/>
            <a:ext cx="763524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11480" y="4526062"/>
            <a:ext cx="1874519" cy="310896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" y="4576354"/>
            <a:ext cx="1691640" cy="2076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869" b="1">
                <a:solidFill>
                  <a:srgbClr val="0D192D"/>
                </a:solidFill>
                <a:latin typeface="Aptos"/>
              </a:defRPr>
            </a:pPr>
            <a:r>
              <a:rPr lang="en-IN" dirty="0"/>
              <a:t>9</a:t>
            </a:r>
            <a:r>
              <a:rPr dirty="0"/>
              <a:t>. FIT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8880" y="4576354"/>
            <a:ext cx="53218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80" b="0">
                <a:solidFill>
                  <a:srgbClr val="232B36"/>
                </a:solidFill>
                <a:latin typeface="Aptos"/>
              </a:defRPr>
            </a:pPr>
            <a:r>
              <a:t>Compare PCHIP, rational, 3rd-order and 4th-order models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206240" y="4836958"/>
            <a:ext cx="0" cy="82296"/>
          </a:xfrm>
          <a:prstGeom prst="line">
            <a:avLst/>
          </a:prstGeom>
          <a:ln w="1143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206240" y="4892475"/>
            <a:ext cx="0" cy="82296"/>
          </a:xfrm>
          <a:prstGeom prst="line">
            <a:avLst/>
          </a:prstGeom>
          <a:ln w="1143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11480" y="4993059"/>
            <a:ext cx="7635240" cy="310896"/>
          </a:xfrm>
          <a:prstGeom prst="round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411480" y="4993059"/>
            <a:ext cx="1874519" cy="310896"/>
          </a:xfrm>
          <a:prstGeom prst="round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02920" y="5043351"/>
            <a:ext cx="1691640" cy="2076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869" b="1">
                <a:solidFill>
                  <a:srgbClr val="FFFFFF"/>
                </a:solidFill>
                <a:latin typeface="Aptos"/>
              </a:defRPr>
            </a:pPr>
            <a:r>
              <a:rPr dirty="0"/>
              <a:t>1</a:t>
            </a:r>
            <a:r>
              <a:rPr lang="en-IN" dirty="0"/>
              <a:t>0</a:t>
            </a:r>
            <a:r>
              <a:rPr dirty="0"/>
              <a:t>. SAVE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0" y="5043351"/>
            <a:ext cx="532180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880" b="0">
                <a:solidFill>
                  <a:srgbClr val="FFFFFF"/>
                </a:solidFill>
                <a:latin typeface="Aptos"/>
              </a:defRPr>
            </a:pPr>
            <a:r>
              <a:t>Write calibration CSVs + detector settings + selected model to JSON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75320" y="1216152"/>
            <a:ext cx="3456432" cy="5248656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49640" y="1481328"/>
            <a:ext cx="290779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F2912D"/>
                </a:solidFill>
                <a:latin typeface="Aptos Display"/>
              </a:defRPr>
            </a:pPr>
            <a:r>
              <a:t>WHAT IS SAVED?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549640" y="1901952"/>
            <a:ext cx="290779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49640" y="1901952"/>
            <a:ext cx="54864" cy="960120"/>
          </a:xfrm>
          <a:prstGeom prst="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732519" y="2039112"/>
            <a:ext cx="25877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0D192D"/>
                </a:solidFill>
                <a:latin typeface="Aptos Display"/>
              </a:defRPr>
            </a:pPr>
            <a:r>
              <a:t>Detector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32519" y="2404872"/>
            <a:ext cx="2587752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40" b="0">
                <a:solidFill>
                  <a:srgbClr val="232B36"/>
                </a:solidFill>
                <a:latin typeface="Aptos"/>
              </a:defRPr>
            </a:pPr>
            <a:r>
              <a:rPr sz="900" dirty="0"/>
              <a:t>ROI, red thresholds, blur, background percentile, centroid threshold and saturation limit.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549640" y="3017520"/>
            <a:ext cx="290779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549640" y="3017520"/>
            <a:ext cx="54864" cy="960120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32519" y="3154679"/>
            <a:ext cx="25877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0D192D"/>
                </a:solidFill>
                <a:latin typeface="Aptos Display"/>
              </a:defRPr>
            </a:pPr>
            <a:r>
              <a:t>Reference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32519" y="3520439"/>
            <a:ext cx="258775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40" b="0">
                <a:solidFill>
                  <a:srgbClr val="232B36"/>
                </a:solidFill>
                <a:latin typeface="Aptos"/>
              </a:defRPr>
            </a:pPr>
            <a:r>
              <a:t>0 mm reference X,Y and all averaged calibration points.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549640" y="4133087"/>
            <a:ext cx="290779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549640" y="4133087"/>
            <a:ext cx="54864" cy="960120"/>
          </a:xfrm>
          <a:prstGeom prst="rect">
            <a:avLst/>
          </a:prstGeom>
          <a:solidFill>
            <a:srgbClr val="2C9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732519" y="4270248"/>
            <a:ext cx="25877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0D192D"/>
                </a:solidFill>
                <a:latin typeface="Aptos Display"/>
              </a:defRPr>
            </a:pPr>
            <a:r>
              <a:t>Model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32519" y="4636007"/>
            <a:ext cx="258775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40" b="0">
                <a:solidFill>
                  <a:srgbClr val="232B36"/>
                </a:solidFill>
                <a:latin typeface="Aptos"/>
              </a:defRPr>
            </a:pPr>
            <a:r>
              <a:t>Selected curve type, fitted parameters and calibrated X range.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49640" y="5248656"/>
            <a:ext cx="290779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549640" y="5248656"/>
            <a:ext cx="54864" cy="960120"/>
          </a:xfrm>
          <a:prstGeom prst="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732519" y="5385816"/>
            <a:ext cx="25877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0D192D"/>
                </a:solidFill>
                <a:latin typeface="Aptos Display"/>
              </a:defRPr>
            </a:pPr>
            <a:r>
              <a:t>Camera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32519" y="5751576"/>
            <a:ext cx="2587752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40" b="0">
                <a:solidFill>
                  <a:srgbClr val="232B36"/>
                </a:solidFill>
                <a:latin typeface="Aptos"/>
              </a:defRPr>
            </a:pPr>
            <a:r>
              <a:t>Resolution, exposure, analogue gain and colour gains used during calibration.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7A5EEA8-8ACA-70C1-A167-227E9DD520A8}"/>
              </a:ext>
            </a:extLst>
          </p:cNvPr>
          <p:cNvGrpSpPr/>
          <p:nvPr/>
        </p:nvGrpSpPr>
        <p:grpSpPr>
          <a:xfrm>
            <a:off x="4201594" y="2971680"/>
            <a:ext cx="185400" cy="65520"/>
            <a:chOff x="4201594" y="2971680"/>
            <a:chExt cx="185400" cy="6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930F0BC-FBA9-413F-7A9F-383493C2817D}"/>
                    </a:ext>
                  </a:extLst>
                </p14:cNvPr>
                <p14:cNvContentPartPr/>
                <p14:nvPr/>
              </p14:nvContentPartPr>
              <p14:xfrm>
                <a:off x="4201594" y="2971680"/>
                <a:ext cx="360" cy="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930F0BC-FBA9-413F-7A9F-383493C2817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38954" y="29086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CD873B6-DB35-9D37-B848-2AB92BC9E099}"/>
                    </a:ext>
                  </a:extLst>
                </p14:cNvPr>
                <p14:cNvContentPartPr/>
                <p14:nvPr/>
              </p14:nvContentPartPr>
              <p14:xfrm>
                <a:off x="4386634" y="3036840"/>
                <a:ext cx="360" cy="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CD873B6-DB35-9D37-B848-2AB92BC9E09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23994" y="29742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03 /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t>Height Calculation — Pixels to 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32688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The measurement program applies the already-fitted calibration relationship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1700784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700784" cy="82296"/>
          </a:xfrm>
          <a:prstGeom prst="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719072"/>
            <a:ext cx="1554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50" b="1">
                <a:solidFill>
                  <a:srgbClr val="0D192D"/>
                </a:solidFill>
                <a:latin typeface="Aptos Display"/>
              </a:defRPr>
            </a:pPr>
            <a:r>
              <a:t>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048256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19" b="0">
                <a:solidFill>
                  <a:srgbClr val="5C6978"/>
                </a:solidFill>
                <a:latin typeface="Aptos"/>
              </a:defRPr>
            </a:pPr>
            <a:r>
              <a:t>Camera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21991" y="1938528"/>
            <a:ext cx="182881" cy="0"/>
          </a:xfrm>
          <a:prstGeom prst="line">
            <a:avLst/>
          </a:prstGeom>
          <a:ln w="1778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0591" y="1481328"/>
            <a:ext cx="1700784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50591" y="1481328"/>
            <a:ext cx="1700784" cy="82296"/>
          </a:xfrm>
          <a:prstGeom prst="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23744" y="1719072"/>
            <a:ext cx="1554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50" b="1">
                <a:solidFill>
                  <a:srgbClr val="0D192D"/>
                </a:solidFill>
                <a:latin typeface="Aptos Display"/>
              </a:defRPr>
            </a:pPr>
            <a:r>
              <a:t>SPOT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2048256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19" b="0">
                <a:solidFill>
                  <a:srgbClr val="5C6978"/>
                </a:solidFill>
                <a:latin typeface="Aptos"/>
              </a:defRPr>
            </a:pPr>
            <a:r>
              <a:t>Find laser centre 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69663" y="1938528"/>
            <a:ext cx="182881" cy="0"/>
          </a:xfrm>
          <a:prstGeom prst="line">
            <a:avLst/>
          </a:prstGeom>
          <a:ln w="1778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98264" y="1481328"/>
            <a:ext cx="1700784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98264" y="1481328"/>
            <a:ext cx="1700784" cy="82296"/>
          </a:xfrm>
          <a:prstGeom prst="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71416" y="1719072"/>
            <a:ext cx="1554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50" b="1">
                <a:solidFill>
                  <a:srgbClr val="0D192D"/>
                </a:solidFill>
                <a:latin typeface="Aptos Display"/>
              </a:defRPr>
            </a:pPr>
            <a:r>
              <a:t>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048256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19" b="0">
                <a:solidFill>
                  <a:srgbClr val="5C6978"/>
                </a:solidFill>
                <a:latin typeface="Aptos"/>
              </a:defRPr>
            </a:pPr>
            <a:r>
              <a:t>Compare with current 0 mm reference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17336" y="1938528"/>
            <a:ext cx="182880" cy="0"/>
          </a:xfrm>
          <a:prstGeom prst="line">
            <a:avLst/>
          </a:prstGeom>
          <a:ln w="1778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45936" y="1481328"/>
            <a:ext cx="1700784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45936" y="1481328"/>
            <a:ext cx="1700784" cy="82296"/>
          </a:xfrm>
          <a:prstGeom prst="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1719072"/>
            <a:ext cx="1554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50" b="1">
                <a:solidFill>
                  <a:srgbClr val="0D192D"/>
                </a:solidFill>
                <a:latin typeface="Aptos Display"/>
              </a:defRPr>
            </a:pPr>
            <a:r>
              <a:t>NORMALIZE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048256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19" b="0">
                <a:solidFill>
                  <a:srgbClr val="5C6978"/>
                </a:solidFill>
                <a:latin typeface="Aptos"/>
              </a:defRPr>
            </a:pPr>
            <a:r>
              <a:t>u = ΔX / 1000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65008" y="1938528"/>
            <a:ext cx="182880" cy="0"/>
          </a:xfrm>
          <a:prstGeom prst="line">
            <a:avLst/>
          </a:prstGeom>
          <a:ln w="1778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293608" y="1481328"/>
            <a:ext cx="1700784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93608" y="1481328"/>
            <a:ext cx="1700784" cy="82296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1719072"/>
            <a:ext cx="1554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50" b="1">
                <a:solidFill>
                  <a:srgbClr val="0D192D"/>
                </a:solidFill>
                <a:latin typeface="Aptos Display"/>
              </a:defRPr>
            </a:pPr>
            <a:r>
              <a:t>CALIBRATE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048256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19" b="0">
                <a:solidFill>
                  <a:srgbClr val="5C6978"/>
                </a:solidFill>
                <a:latin typeface="Aptos"/>
              </a:defRPr>
            </a:pPr>
            <a:r>
              <a:t>Evaluate saved rational model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12680" y="1938528"/>
            <a:ext cx="182880" cy="0"/>
          </a:xfrm>
          <a:prstGeom prst="line">
            <a:avLst/>
          </a:prstGeom>
          <a:ln w="17780">
            <a:solidFill>
              <a:srgbClr val="AA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241280" y="1481328"/>
            <a:ext cx="1700784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241280" y="1481328"/>
            <a:ext cx="1700784" cy="82296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14432" y="1719072"/>
            <a:ext cx="1554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50" b="1">
                <a:solidFill>
                  <a:srgbClr val="0D192D"/>
                </a:solidFill>
                <a:latin typeface="Aptos Display"/>
              </a:defRPr>
            </a:pPr>
            <a:r>
              <a:t>HEIGHT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14432" y="2048256"/>
            <a:ext cx="1554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19" b="0">
                <a:solidFill>
                  <a:srgbClr val="5C6978"/>
                </a:solidFill>
                <a:latin typeface="Aptos"/>
              </a:defRPr>
            </a:pPr>
            <a:r>
              <a:t>Height in mm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" y="2971800"/>
            <a:ext cx="10241280" cy="1234440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34440" y="3273552"/>
            <a:ext cx="25603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100" b="1">
                <a:solidFill>
                  <a:srgbClr val="0D192D"/>
                </a:solidFill>
                <a:latin typeface="Aptos Display"/>
              </a:defRPr>
            </a:pPr>
            <a:r>
              <a:t>u = ΔX / 1000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300983" y="3145536"/>
                <a:ext cx="7269480" cy="645690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t">
                <a:spAutoFit/>
              </a:bodyPr>
              <a:lstStyle/>
              <a:p>
                <a:pPr algn="ctr">
                  <a:defRPr sz="2000" b="1">
                    <a:solidFill>
                      <a:srgbClr val="F2912D"/>
                    </a:solidFill>
                    <a:latin typeface="Aptos Display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0" dirty="0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0" dirty="0"/>
                            <m:t>69.9439u − 0.3481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0" dirty="0"/>
                            <m:t>0.5299u + 1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983" y="3145536"/>
                <a:ext cx="7269480" cy="645690"/>
              </a:xfrm>
              <a:prstGeom prst="rect">
                <a:avLst/>
              </a:prstGeom>
              <a:blipFill>
                <a:blip r:embed="rId2"/>
                <a:stretch>
                  <a:fillRect t="-9615" b="-25000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2712567" y="3919242"/>
            <a:ext cx="67665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5C6978"/>
                </a:solidFill>
                <a:latin typeface="Aptos"/>
              </a:defRPr>
            </a:pPr>
            <a:r>
              <a:rPr dirty="0"/>
              <a:t>The fitted coefficients are stored in </a:t>
            </a:r>
            <a:r>
              <a:rPr dirty="0" err="1"/>
              <a:t>calibration_model.json</a:t>
            </a:r>
            <a:r>
              <a:rPr dirty="0"/>
              <a:t>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" y="4462272"/>
            <a:ext cx="10241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34440" y="4736592"/>
            <a:ext cx="96926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0D192D"/>
                </a:solidFill>
                <a:latin typeface="Aptos"/>
              </a:defRPr>
            </a:pPr>
            <a:r>
              <a:t>Pixel position  →  horizontal shift ΔX  →  normalized shift u  →  calibrated height h (mm)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806440"/>
            <a:ext cx="10104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5C6978"/>
                </a:solidFill>
                <a:latin typeface="Aptos"/>
              </a:defRPr>
            </a:pPr>
            <a:r>
              <a:t>The same detector and camera settings saved during calibration are reused during measurement.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03 /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t>Curve Fitting &amp; 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32688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Four candidate relationships were tested on the calibration data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5257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error (mm)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Used?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PCHIP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0.332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Rational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0.245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Polynomial 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0.251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Polynomial 4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0.278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126480" y="1325880"/>
            <a:ext cx="54406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1325880"/>
            <a:ext cx="54864" cy="1298448"/>
          </a:xfrm>
          <a:prstGeom prst="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39"/>
            <a:ext cx="5120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0D192D"/>
                </a:solidFill>
                <a:latin typeface="Aptos Display"/>
              </a:defRPr>
            </a:pPr>
            <a:r>
              <a:t>How was the test done?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120640" cy="704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>
                <a:solidFill>
                  <a:srgbClr val="232B36"/>
                </a:solidFill>
                <a:latin typeface="Aptos"/>
              </a:defRPr>
            </a:pPr>
            <a:r>
              <a:t>One calibration point is left out, the curve is fitted with the remaining points, and the hidden point is predicted. This is repeated across the calibration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834640"/>
            <a:ext cx="54406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2834640"/>
            <a:ext cx="54864" cy="129844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2971800"/>
            <a:ext cx="5120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0D192D"/>
                </a:solidFill>
                <a:latin typeface="Aptos Display"/>
              </a:defRPr>
            </a:pPr>
            <a:r>
              <a:t>Why was the rational model used?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337560"/>
            <a:ext cx="5120640" cy="704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>
                <a:solidFill>
                  <a:srgbClr val="232B36"/>
                </a:solidFill>
                <a:latin typeface="Aptos"/>
              </a:defRPr>
            </a:pPr>
            <a:r>
              <a:t>It gave the smallest test error among the four models, so the program selected it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17720"/>
            <a:ext cx="11018520" cy="1143000"/>
          </a:xfrm>
          <a:prstGeom prst="round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46304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1">
                <a:solidFill>
                  <a:srgbClr val="5C6978"/>
                </a:solidFill>
                <a:latin typeface="Aptos"/>
              </a:defRPr>
            </a:pPr>
            <a:r>
              <a:t>Saved equation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754880"/>
            <a:ext cx="8778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900" b="1">
                <a:solidFill>
                  <a:srgbClr val="0D192D"/>
                </a:solidFill>
                <a:latin typeface="Aptos Display"/>
              </a:defRPr>
            </a:pPr>
            <a:r>
              <a:t>h = (69.9439u − 0.3481)/(0.5299u + 1)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5257800"/>
            <a:ext cx="3108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5C6978"/>
                </a:solidFill>
                <a:latin typeface="Aptos"/>
              </a:defRPr>
            </a:pPr>
            <a:r>
              <a:t>u = ΔX / 1000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03 /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t>Calibration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32688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The two key plots used to judge the calibration relationship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5669280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1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307592"/>
            <a:ext cx="5522976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" y="6025896"/>
            <a:ext cx="544982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C6978"/>
                </a:solidFill>
                <a:latin typeface="Aptos"/>
              </a:defRPr>
            </a:pPr>
            <a:r>
              <a:t>Height vs horizontal pixel shift — model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34440"/>
            <a:ext cx="5650992" cy="5074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13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307592"/>
            <a:ext cx="5504688" cy="4663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36208" y="6025896"/>
            <a:ext cx="5431536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0">
                <a:solidFill>
                  <a:srgbClr val="5C6978"/>
                </a:solidFill>
                <a:latin typeface="Aptos"/>
              </a:defRPr>
            </a:pPr>
            <a:r>
              <a:t>Height vs horizontal pixel position — calibration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04 /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t>Experimental Measurement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32688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Notebook measurements arranged in ascending order of actual height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60120" y="1280160"/>
          <a:ext cx="10241280" cy="5120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375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Object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Actual height (mm)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Measured height (mm)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0.730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0.607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Ref. 4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2.000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2.052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Ref. 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3.000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3.126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Ref. 6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4.000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4.074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Ref. 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10.000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9.938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Black lid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10.300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9.860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Eraser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10.620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10.519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Ref. 2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12.000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11.804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Battery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13.860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13.834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Ref. 8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16.000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15.899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Headphone pouch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23.880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24.106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Charger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27.370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27.190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Ref. 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30.000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29.845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Ref. 5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50.000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50.216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51560" y="6391656"/>
            <a:ext cx="10058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50" b="0">
                <a:solidFill>
                  <a:srgbClr val="5C6978"/>
                </a:solidFill>
                <a:latin typeface="Aptos"/>
              </a:defRPr>
            </a:pPr>
            <a:r>
              <a:t>Values are transcribed from the experimental notebook; no error column is included.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18872" cy="566928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1">
                <a:solidFill>
                  <a:srgbClr val="25AAB8"/>
                </a:solidFill>
                <a:latin typeface="Aptos"/>
              </a:defRPr>
            </a:pPr>
            <a:r>
              <a:t>04 / PERFORMANCE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2500" b="1">
                <a:solidFill>
                  <a:srgbClr val="0D192D"/>
                </a:solidFill>
                <a:latin typeface="Aptos Display"/>
              </a:defRPr>
            </a:pPr>
            <a:r>
              <a:t>Practical Performance, Conclusion &amp;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32688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0">
                <a:solidFill>
                  <a:srgbClr val="5C6978"/>
                </a:solidFill>
                <a:latin typeface="Aptos"/>
              </a:defRPr>
            </a:pPr>
            <a:r>
              <a:t>Comparison of the main theoretical and measured system characteristics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589063"/>
              </p:ext>
            </p:extLst>
          </p:nvPr>
        </p:nvGraphicFramePr>
        <p:xfrm>
          <a:off x="411480" y="1188720"/>
          <a:ext cx="67208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Parameter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Theoretical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Practical / measured</a:t>
                      </a:r>
                    </a:p>
                  </a:txBody>
                  <a:tcPr marL="45720" marR="45720" marT="22860" marB="22860" anchor="ctr">
                    <a:solidFill>
                      <a:srgbClr val="0D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lang="en-IN" dirty="0"/>
                        <a:t>Height</a:t>
                      </a:r>
                      <a:r>
                        <a:rPr dirty="0"/>
                        <a:t> resolution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0.0</a:t>
                      </a:r>
                      <a:r>
                        <a:rPr lang="en-IN" dirty="0"/>
                        <a:t>64</a:t>
                      </a:r>
                      <a:r>
                        <a:rPr dirty="0"/>
                        <a:t> mm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≈ 0.</a:t>
                      </a:r>
                      <a:r>
                        <a:rPr lang="en-IN" dirty="0"/>
                        <a:t>1</a:t>
                      </a:r>
                      <a:r>
                        <a:rPr dirty="0"/>
                        <a:t> mm/pixel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lang="en-IN" dirty="0"/>
                        <a:t>Horizontal</a:t>
                      </a:r>
                      <a:r>
                        <a:rPr dirty="0"/>
                        <a:t> resolution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0.0</a:t>
                      </a:r>
                      <a:r>
                        <a:rPr lang="en-IN" dirty="0"/>
                        <a:t>54</a:t>
                      </a:r>
                      <a:r>
                        <a:rPr dirty="0"/>
                        <a:t> mm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≈ 0.055 mm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Depth sensitivity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0.0670 mm/pixel</a:t>
                      </a:r>
                      <a:r>
                        <a:rPr lang="en-IN" dirty="0"/>
                        <a:t> (max)</a:t>
                      </a:r>
                      <a:endParaRPr dirty="0"/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≈ 0.0</a:t>
                      </a:r>
                      <a:r>
                        <a:rPr lang="en-IN" dirty="0"/>
                        <a:t>57329</a:t>
                      </a:r>
                      <a:r>
                        <a:rPr dirty="0"/>
                        <a:t> mm/pixel</a:t>
                      </a:r>
                      <a:r>
                        <a:rPr lang="en-IN" dirty="0"/>
                        <a:t> (</a:t>
                      </a:r>
                      <a:r>
                        <a:rPr lang="en-IN" dirty="0" err="1"/>
                        <a:t>avg</a:t>
                      </a:r>
                      <a:r>
                        <a:rPr lang="en-IN" dirty="0"/>
                        <a:t>)</a:t>
                      </a:r>
                      <a:endParaRPr dirty="0"/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t>Measurement range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5</a:t>
                      </a:r>
                      <a:r>
                        <a:rPr lang="en-IN" dirty="0"/>
                        <a:t>2.15</a:t>
                      </a:r>
                      <a:r>
                        <a:rPr dirty="0"/>
                        <a:t> mm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0–50 mm calibrated</a:t>
                      </a:r>
                    </a:p>
                  </a:txBody>
                  <a:tcPr marL="45720" marR="45720" marT="22860" marB="22860" anchor="ctr"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Calibration test error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32B36"/>
                          </a:solidFill>
                          <a:latin typeface="Aptos"/>
                        </a:defRPr>
                      </a:pPr>
                      <a:r>
                        <a:rPr dirty="0"/>
                        <a:t>0.2447 mm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60920" y="1188720"/>
            <a:ext cx="43434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60920" y="1188720"/>
            <a:ext cx="54864" cy="1417320"/>
          </a:xfrm>
          <a:prstGeom prst="rect">
            <a:avLst/>
          </a:prstGeom>
          <a:solidFill>
            <a:srgbClr val="25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1325880"/>
            <a:ext cx="4023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0D192D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691640"/>
            <a:ext cx="40233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>
                <a:solidFill>
                  <a:srgbClr val="232B36"/>
                </a:solidFill>
                <a:latin typeface="Aptos"/>
              </a:defRPr>
            </a:pPr>
            <a:r>
              <a:t>The system provides non-contact height measurement over a 0–50 mm calibrated range. The saved rational model gave the lowest test error among the four tested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2788920"/>
            <a:ext cx="43434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60920" y="2788920"/>
            <a:ext cx="54864" cy="1417320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2926079"/>
            <a:ext cx="4023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400" b="1">
                <a:solidFill>
                  <a:srgbClr val="0D192D"/>
                </a:solidFill>
                <a:latin typeface="Aptos Display"/>
              </a:defRPr>
            </a:pPr>
            <a:r>
              <a:t>Current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291839"/>
            <a:ext cx="40233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100" b="0">
                <a:solidFill>
                  <a:srgbClr val="232B36"/>
                </a:solidFill>
                <a:latin typeface="Aptos"/>
              </a:defRPr>
            </a:pPr>
            <a:r>
              <a:t>The laser spot is relatively large. Background lighting and surface reflectivity can affect spot detection. Calibration is limited to 50 mm.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26280"/>
            <a:ext cx="25603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200" b="1">
                <a:solidFill>
                  <a:srgbClr val="F2912D"/>
                </a:solidFill>
                <a:latin typeface="Aptos Display"/>
              </a:defRPr>
            </a:pPr>
            <a:r>
              <a:t>POSSIBLE IMPROVEMENTS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92040"/>
            <a:ext cx="257860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047488"/>
            <a:ext cx="2304288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0D192D"/>
                </a:solidFill>
                <a:latin typeface="Aptos Display"/>
              </a:defRPr>
            </a:pPr>
            <a:r>
              <a:t>Smaller spot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376672"/>
            <a:ext cx="230428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50" b="0">
                <a:solidFill>
                  <a:srgbClr val="5C6978"/>
                </a:solidFill>
                <a:latin typeface="Aptos"/>
              </a:defRPr>
            </a:pPr>
            <a:r>
              <a:t>Use a narrower / better-collimated laser.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4892040"/>
            <a:ext cx="257860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5047488"/>
            <a:ext cx="2304288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0D192D"/>
                </a:solidFill>
                <a:latin typeface="Aptos Display"/>
              </a:defRPr>
            </a:pPr>
            <a:r>
              <a:t>Rigid 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376672"/>
            <a:ext cx="230428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50" b="0">
                <a:solidFill>
                  <a:srgbClr val="5C6978"/>
                </a:solidFill>
                <a:latin typeface="Aptos"/>
              </a:defRPr>
            </a:pPr>
            <a:r>
              <a:t>Fix camera–laser geometry more firmly.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892040"/>
            <a:ext cx="257860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5047488"/>
            <a:ext cx="2304288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0D192D"/>
                </a:solidFill>
                <a:latin typeface="Aptos Display"/>
              </a:defRPr>
            </a:pPr>
            <a:r>
              <a:t>Reduce background light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376672"/>
            <a:ext cx="230428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50" b="0">
                <a:solidFill>
                  <a:srgbClr val="5C6978"/>
                </a:solidFill>
                <a:latin typeface="Aptos"/>
              </a:defRPr>
            </a:pPr>
            <a:r>
              <a:t>Limit unwanted illumination around the measurement area.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4892040"/>
            <a:ext cx="257860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98280" y="5047488"/>
            <a:ext cx="2304288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0D192D"/>
                </a:solidFill>
                <a:latin typeface="Aptos Display"/>
              </a:defRPr>
            </a:pPr>
            <a:r>
              <a:t>More calibration 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5376672"/>
            <a:ext cx="230428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50" b="0">
                <a:solidFill>
                  <a:srgbClr val="5C6978"/>
                </a:solidFill>
                <a:latin typeface="Aptos"/>
              </a:defRPr>
            </a:pPr>
            <a:r>
              <a:t>Add points where the height–pixel curve changes faster.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1700</Words>
  <Application>Microsoft Office PowerPoint</Application>
  <PresentationFormat>Widescreen</PresentationFormat>
  <Paragraphs>393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Gnanamoorthy</dc:creator>
  <cp:keywords/>
  <dc:description>generated using python-pptx</dc:description>
  <cp:lastModifiedBy>Swarnabha Pramanik</cp:lastModifiedBy>
  <cp:revision>14</cp:revision>
  <dcterms:created xsi:type="dcterms:W3CDTF">2013-01-27T09:14:16Z</dcterms:created>
  <dcterms:modified xsi:type="dcterms:W3CDTF">2026-09-25T09:27:44Z</dcterms:modified>
  <cp:category/>
</cp:coreProperties>
</file>